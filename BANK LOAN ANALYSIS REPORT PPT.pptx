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67"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C22C0-20C6-4DDD-9FFD-B652E6DB8EE3}" type="datetimeFigureOut">
              <a:rPr lang="en-US" smtClean="0"/>
              <a:t>9/25/2025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B9C9EF-68D5-4E61-92A1-DC63C01A9439}" type="slidenum">
              <a:rPr lang="en-US" smtClean="0"/>
              <a:t>‹#›</a:t>
            </a:fld>
            <a:endParaRPr lang="en-US"/>
          </a:p>
        </p:txBody>
      </p:sp>
    </p:spTree>
    <p:extLst>
      <p:ext uri="{BB962C8B-B14F-4D97-AF65-F5344CB8AC3E}">
        <p14:creationId xmlns:p14="http://schemas.microsoft.com/office/powerpoint/2010/main" val="4214866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initial steps crucial for any bank loan analytics project. Collecting accurate data, preprocessing it for quality, and engineering features set the foundation for meaningful analysis. Maintaining compliance and privacy is also essential during data handling.</a:t>
            </a:r>
          </a:p>
        </p:txBody>
      </p:sp>
      <p:sp>
        <p:nvSpPr>
          <p:cNvPr id="4" name="Slide Number Placeholder 3"/>
          <p:cNvSpPr>
            <a:spLocks noGrp="1"/>
          </p:cNvSpPr>
          <p:nvPr>
            <p:ph type="sldNum" sz="quarter" idx="5"/>
          </p:nvPr>
        </p:nvSpPr>
        <p:spPr/>
        <p:txBody>
          <a:bodyPr/>
          <a:lstStyle/>
          <a:p>
            <a:fld id="{C3101C2D-5E43-4AB3-B72A-44A7D7E13EFA}" type="slidenum">
              <a:rPr lang="en-US" smtClean="0"/>
              <a:t>2</a:t>
            </a:fld>
            <a:endParaRPr lang="en-US"/>
          </a:p>
        </p:txBody>
      </p:sp>
    </p:spTree>
    <p:extLst>
      <p:ext uri="{BB962C8B-B14F-4D97-AF65-F5344CB8AC3E}">
        <p14:creationId xmlns:p14="http://schemas.microsoft.com/office/powerpoint/2010/main" val="1711877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Risk assessment is at the heart of loan analytics. This slide discusses how credit scoring models are built and refined to predict the likelihood of loan default, leveraging various data sources and predictive methods.</a:t>
            </a:r>
          </a:p>
        </p:txBody>
      </p:sp>
      <p:sp>
        <p:nvSpPr>
          <p:cNvPr id="4" name="Slide Number Placeholder 3"/>
          <p:cNvSpPr>
            <a:spLocks noGrp="1"/>
          </p:cNvSpPr>
          <p:nvPr>
            <p:ph type="sldNum" sz="quarter" idx="5"/>
          </p:nvPr>
        </p:nvSpPr>
        <p:spPr/>
        <p:txBody>
          <a:bodyPr/>
          <a:lstStyle/>
          <a:p>
            <a:fld id="{C3101C2D-5E43-4AB3-B72A-44A7D7E13EFA}" type="slidenum">
              <a:rPr lang="en-US" smtClean="0"/>
              <a:t>3</a:t>
            </a:fld>
            <a:endParaRPr lang="en-US"/>
          </a:p>
        </p:txBody>
      </p:sp>
    </p:spTree>
    <p:extLst>
      <p:ext uri="{BB962C8B-B14F-4D97-AF65-F5344CB8AC3E}">
        <p14:creationId xmlns:p14="http://schemas.microsoft.com/office/powerpoint/2010/main" val="1974072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Monitoring the overall loan portfolio helps banks understand performance and emerging risks. This slide highlights how segmentation and visualization tools aid in proactive management.</a:t>
            </a:r>
          </a:p>
        </p:txBody>
      </p:sp>
      <p:sp>
        <p:nvSpPr>
          <p:cNvPr id="4" name="Slide Number Placeholder 3"/>
          <p:cNvSpPr>
            <a:spLocks noGrp="1"/>
          </p:cNvSpPr>
          <p:nvPr>
            <p:ph type="sldNum" sz="quarter" idx="5"/>
          </p:nvPr>
        </p:nvSpPr>
        <p:spPr/>
        <p:txBody>
          <a:bodyPr/>
          <a:lstStyle/>
          <a:p>
            <a:fld id="{C3101C2D-5E43-4AB3-B72A-44A7D7E13EFA}" type="slidenum">
              <a:rPr lang="en-US" smtClean="0"/>
              <a:t>4</a:t>
            </a:fld>
            <a:endParaRPr lang="en-US"/>
          </a:p>
        </p:txBody>
      </p:sp>
    </p:spTree>
    <p:extLst>
      <p:ext uri="{BB962C8B-B14F-4D97-AF65-F5344CB8AC3E}">
        <p14:creationId xmlns:p14="http://schemas.microsoft.com/office/powerpoint/2010/main" val="101278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p:cNvSpPr>
            <a:spLocks noGrp="1"/>
          </p:cNvSpPr>
          <p:nvPr>
            <p:ph type="sldNum" sz="quarter" idx="5"/>
          </p:nvPr>
        </p:nvSpPr>
        <p:spPr/>
        <p:txBody>
          <a:bodyPr/>
          <a:lstStyle/>
          <a:p>
            <a:fld id="{C3101C2D-5E43-4AB3-B72A-44A7D7E13EFA}" type="slidenum">
              <a:rPr lang="en-US" smtClean="0"/>
              <a:t>5</a:t>
            </a:fld>
            <a:endParaRPr lang="en-US"/>
          </a:p>
        </p:txBody>
      </p:sp>
    </p:spTree>
    <p:extLst>
      <p:ext uri="{BB962C8B-B14F-4D97-AF65-F5344CB8AC3E}">
        <p14:creationId xmlns:p14="http://schemas.microsoft.com/office/powerpoint/2010/main" val="957381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addresses the importance of compliance in bank loan analytics, emphasizing transparent reporting, regulatory adherence, and fraud prevention measures to safeguard the institution.</a:t>
            </a:r>
          </a:p>
        </p:txBody>
      </p:sp>
      <p:sp>
        <p:nvSpPr>
          <p:cNvPr id="4" name="Slide Number Placeholder 3"/>
          <p:cNvSpPr>
            <a:spLocks noGrp="1"/>
          </p:cNvSpPr>
          <p:nvPr>
            <p:ph type="sldNum" sz="quarter" idx="5"/>
          </p:nvPr>
        </p:nvSpPr>
        <p:spPr/>
        <p:txBody>
          <a:bodyPr/>
          <a:lstStyle/>
          <a:p>
            <a:fld id="{C3101C2D-5E43-4AB3-B72A-44A7D7E13EFA}" type="slidenum">
              <a:rPr lang="en-US" smtClean="0"/>
              <a:t>6</a:t>
            </a:fld>
            <a:endParaRPr lang="en-US"/>
          </a:p>
        </p:txBody>
      </p:sp>
    </p:spTree>
    <p:extLst>
      <p:ext uri="{BB962C8B-B14F-4D97-AF65-F5344CB8AC3E}">
        <p14:creationId xmlns:p14="http://schemas.microsoft.com/office/powerpoint/2010/main" val="4292840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B9FB1-5778-FE28-360C-C0BDE19E7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3E24C-8D01-B8A5-854F-982589670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556B5-6823-3A33-CB53-1744861B4068}"/>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D33F0856-A5D5-CD07-3085-0DF4576E8393}"/>
              </a:ext>
            </a:extLst>
          </p:cNvPr>
          <p:cNvSpPr>
            <a:spLocks noGrp="1"/>
          </p:cNvSpPr>
          <p:nvPr>
            <p:ph type="sldNum" sz="quarter" idx="5"/>
          </p:nvPr>
        </p:nvSpPr>
        <p:spPr/>
        <p:txBody>
          <a:bodyPr/>
          <a:lstStyle/>
          <a:p>
            <a:fld id="{C3101C2D-5E43-4AB3-B72A-44A7D7E13EFA}" type="slidenum">
              <a:rPr lang="en-US" smtClean="0"/>
              <a:t>7</a:t>
            </a:fld>
            <a:endParaRPr lang="en-US"/>
          </a:p>
        </p:txBody>
      </p:sp>
    </p:spTree>
    <p:extLst>
      <p:ext uri="{BB962C8B-B14F-4D97-AF65-F5344CB8AC3E}">
        <p14:creationId xmlns:p14="http://schemas.microsoft.com/office/powerpoint/2010/main" val="592925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0AE0B-E131-AA8E-BAF1-10459DAE4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54789-6A36-BB9E-6CF6-31670A1DC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EFA3F-C329-B6E6-2001-EFCE17D1F1FA}"/>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6432189A-335A-C552-48DD-75B33D9AEC00}"/>
              </a:ext>
            </a:extLst>
          </p:cNvPr>
          <p:cNvSpPr>
            <a:spLocks noGrp="1"/>
          </p:cNvSpPr>
          <p:nvPr>
            <p:ph type="sldNum" sz="quarter" idx="5"/>
          </p:nvPr>
        </p:nvSpPr>
        <p:spPr/>
        <p:txBody>
          <a:bodyPr/>
          <a:lstStyle/>
          <a:p>
            <a:fld id="{C3101C2D-5E43-4AB3-B72A-44A7D7E13EFA}" type="slidenum">
              <a:rPr lang="en-US" smtClean="0"/>
              <a:t>8</a:t>
            </a:fld>
            <a:endParaRPr lang="en-US"/>
          </a:p>
        </p:txBody>
      </p:sp>
    </p:spTree>
    <p:extLst>
      <p:ext uri="{BB962C8B-B14F-4D97-AF65-F5344CB8AC3E}">
        <p14:creationId xmlns:p14="http://schemas.microsoft.com/office/powerpoint/2010/main" val="1641015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19FD6-E6C4-C94B-66FC-6F23817F7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DE9D7-7B75-DB7D-BF7B-A844E13DD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A74D3-F592-D8EF-CCFD-5C64C61C23FB}"/>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F3E62C33-4AA6-ECB0-EE6E-3AF6B25074F9}"/>
              </a:ext>
            </a:extLst>
          </p:cNvPr>
          <p:cNvSpPr>
            <a:spLocks noGrp="1"/>
          </p:cNvSpPr>
          <p:nvPr>
            <p:ph type="sldNum" sz="quarter" idx="5"/>
          </p:nvPr>
        </p:nvSpPr>
        <p:spPr/>
        <p:txBody>
          <a:bodyPr/>
          <a:lstStyle/>
          <a:p>
            <a:fld id="{C3101C2D-5E43-4AB3-B72A-44A7D7E13EFA}" type="slidenum">
              <a:rPr lang="en-US" smtClean="0"/>
              <a:t>9</a:t>
            </a:fld>
            <a:endParaRPr lang="en-US"/>
          </a:p>
        </p:txBody>
      </p:sp>
    </p:spTree>
    <p:extLst>
      <p:ext uri="{BB962C8B-B14F-4D97-AF65-F5344CB8AC3E}">
        <p14:creationId xmlns:p14="http://schemas.microsoft.com/office/powerpoint/2010/main" val="3537122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04379-03DF-4D67-7048-81F1D89DE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8ABE5-B2F5-8FA6-5A9A-CB6AA23A0B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96320-9A83-08A7-FFEE-4E70D6AA2A6A}"/>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8A06A619-9593-154C-0CD1-3701436CEE11}"/>
              </a:ext>
            </a:extLst>
          </p:cNvPr>
          <p:cNvSpPr>
            <a:spLocks noGrp="1"/>
          </p:cNvSpPr>
          <p:nvPr>
            <p:ph type="sldNum" sz="quarter" idx="5"/>
          </p:nvPr>
        </p:nvSpPr>
        <p:spPr/>
        <p:txBody>
          <a:bodyPr/>
          <a:lstStyle/>
          <a:p>
            <a:fld id="{C3101C2D-5E43-4AB3-B72A-44A7D7E13EFA}" type="slidenum">
              <a:rPr lang="en-US" smtClean="0"/>
              <a:t>10</a:t>
            </a:fld>
            <a:endParaRPr lang="en-US"/>
          </a:p>
        </p:txBody>
      </p:sp>
    </p:spTree>
    <p:extLst>
      <p:ext uri="{BB962C8B-B14F-4D97-AF65-F5344CB8AC3E}">
        <p14:creationId xmlns:p14="http://schemas.microsoft.com/office/powerpoint/2010/main" val="3650683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238E-8CA6-D1A0-50EB-8F84DE80F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A5606-97A6-4FC9-D35E-4C6BFC513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CCAC6-C39D-40D7-DFDE-37FD19DF8E2D}"/>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31145CF0-FC46-A887-CDF0-8C98BD32797E}"/>
              </a:ext>
            </a:extLst>
          </p:cNvPr>
          <p:cNvSpPr>
            <a:spLocks noGrp="1"/>
          </p:cNvSpPr>
          <p:nvPr>
            <p:ph type="sldNum" sz="quarter" idx="5"/>
          </p:nvPr>
        </p:nvSpPr>
        <p:spPr/>
        <p:txBody>
          <a:bodyPr/>
          <a:lstStyle/>
          <a:p>
            <a:fld id="{C3101C2D-5E43-4AB3-B72A-44A7D7E13EFA}" type="slidenum">
              <a:rPr lang="en-US" smtClean="0"/>
              <a:t>11</a:t>
            </a:fld>
            <a:endParaRPr lang="en-US"/>
          </a:p>
        </p:txBody>
      </p:sp>
    </p:spTree>
    <p:extLst>
      <p:ext uri="{BB962C8B-B14F-4D97-AF65-F5344CB8AC3E}">
        <p14:creationId xmlns:p14="http://schemas.microsoft.com/office/powerpoint/2010/main" val="2855899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E8815-53DF-6960-E1FD-B05A4F4CC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AA3F4-B6A3-9BC1-AB30-CE33B223F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D3445-2169-D73A-D792-00BD075B6B45}"/>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18FA72D9-984B-33F2-A31F-41E026176586}"/>
              </a:ext>
            </a:extLst>
          </p:cNvPr>
          <p:cNvSpPr>
            <a:spLocks noGrp="1"/>
          </p:cNvSpPr>
          <p:nvPr>
            <p:ph type="sldNum" sz="quarter" idx="5"/>
          </p:nvPr>
        </p:nvSpPr>
        <p:spPr/>
        <p:txBody>
          <a:bodyPr/>
          <a:lstStyle/>
          <a:p>
            <a:fld id="{C3101C2D-5E43-4AB3-B72A-44A7D7E13EFA}" type="slidenum">
              <a:rPr lang="en-US" smtClean="0"/>
              <a:t>12</a:t>
            </a:fld>
            <a:endParaRPr lang="en-US"/>
          </a:p>
        </p:txBody>
      </p:sp>
    </p:spTree>
    <p:extLst>
      <p:ext uri="{BB962C8B-B14F-4D97-AF65-F5344CB8AC3E}">
        <p14:creationId xmlns:p14="http://schemas.microsoft.com/office/powerpoint/2010/main" val="356034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C9DD-5491-9355-2C92-EFED6D917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5EA14-2D74-01FA-B2B0-15F7AEAD8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E3F25-8B31-E3AB-A108-FBF7E02D0FE0}"/>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03BDF4A5-D523-8F26-723B-84A3FF97BBA3}"/>
              </a:ext>
            </a:extLst>
          </p:cNvPr>
          <p:cNvSpPr>
            <a:spLocks noGrp="1"/>
          </p:cNvSpPr>
          <p:nvPr>
            <p:ph type="sldNum" sz="quarter" idx="5"/>
          </p:nvPr>
        </p:nvSpPr>
        <p:spPr/>
        <p:txBody>
          <a:bodyPr/>
          <a:lstStyle/>
          <a:p>
            <a:fld id="{C3101C2D-5E43-4AB3-B72A-44A7D7E13EFA}" type="slidenum">
              <a:rPr lang="en-US" smtClean="0"/>
              <a:t>13</a:t>
            </a:fld>
            <a:endParaRPr lang="en-US"/>
          </a:p>
        </p:txBody>
      </p:sp>
    </p:spTree>
    <p:extLst>
      <p:ext uri="{BB962C8B-B14F-4D97-AF65-F5344CB8AC3E}">
        <p14:creationId xmlns:p14="http://schemas.microsoft.com/office/powerpoint/2010/main" val="360497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9C1C-98B1-5FF8-526A-7975F204B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3C2EAB-5063-71F2-CB13-5A91B5C50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2FCA1-183B-FFE2-057C-536BD0332FFB}"/>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02944016-F0B8-68DD-067F-3709CF26EB42}"/>
              </a:ext>
            </a:extLst>
          </p:cNvPr>
          <p:cNvSpPr>
            <a:spLocks noGrp="1"/>
          </p:cNvSpPr>
          <p:nvPr>
            <p:ph type="sldNum" sz="quarter" idx="5"/>
          </p:nvPr>
        </p:nvSpPr>
        <p:spPr/>
        <p:txBody>
          <a:bodyPr/>
          <a:lstStyle/>
          <a:p>
            <a:fld id="{C3101C2D-5E43-4AB3-B72A-44A7D7E13EFA}" type="slidenum">
              <a:rPr lang="en-US" smtClean="0"/>
              <a:t>14</a:t>
            </a:fld>
            <a:endParaRPr lang="en-US"/>
          </a:p>
        </p:txBody>
      </p:sp>
    </p:spTree>
    <p:extLst>
      <p:ext uri="{BB962C8B-B14F-4D97-AF65-F5344CB8AC3E}">
        <p14:creationId xmlns:p14="http://schemas.microsoft.com/office/powerpoint/2010/main" val="3673244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A351F-88C0-F5C5-35B4-BAAD344D8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75785-0149-9E07-9E08-5248E44F4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38804-C6BC-A45F-B9DD-D994738372F8}"/>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AC15FC9E-AECF-2649-D366-2E6C6ED6FF2C}"/>
              </a:ext>
            </a:extLst>
          </p:cNvPr>
          <p:cNvSpPr>
            <a:spLocks noGrp="1"/>
          </p:cNvSpPr>
          <p:nvPr>
            <p:ph type="sldNum" sz="quarter" idx="5"/>
          </p:nvPr>
        </p:nvSpPr>
        <p:spPr/>
        <p:txBody>
          <a:bodyPr/>
          <a:lstStyle/>
          <a:p>
            <a:fld id="{C3101C2D-5E43-4AB3-B72A-44A7D7E13EFA}" type="slidenum">
              <a:rPr lang="en-US" smtClean="0"/>
              <a:t>15</a:t>
            </a:fld>
            <a:endParaRPr lang="en-US"/>
          </a:p>
        </p:txBody>
      </p:sp>
    </p:spTree>
    <p:extLst>
      <p:ext uri="{BB962C8B-B14F-4D97-AF65-F5344CB8AC3E}">
        <p14:creationId xmlns:p14="http://schemas.microsoft.com/office/powerpoint/2010/main" val="929326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F8AAB-4D01-F382-9F6B-846072300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1E878-78FC-97BE-6BE1-007AC4833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F501D-91DF-141D-D3B6-BACD836055B1}"/>
              </a:ext>
            </a:extLst>
          </p:cNvPr>
          <p:cNvSpPr>
            <a:spLocks noGrp="1"/>
          </p:cNvSpPr>
          <p:nvPr>
            <p:ph type="body" idx="1"/>
          </p:nvPr>
        </p:nvSpPr>
        <p:spPr/>
        <p:txBody>
          <a:bodyPr/>
          <a:lstStyle/>
          <a:p>
            <a:r>
              <a:rPr lang="en-US"/>
              <a:t>Effective customer segmentation allows banks to customize loan offerings and marketing efforts, improving acquisition and retention rates. This approach leverages analytics to better address customer needs.</a:t>
            </a:r>
          </a:p>
        </p:txBody>
      </p:sp>
      <p:sp>
        <p:nvSpPr>
          <p:cNvPr id="4" name="Slide Number Placeholder 3">
            <a:extLst>
              <a:ext uri="{FF2B5EF4-FFF2-40B4-BE49-F238E27FC236}">
                <a16:creationId xmlns:a16="http://schemas.microsoft.com/office/drawing/2014/main" id="{33AC9267-3058-2DC6-500A-D45171202345}"/>
              </a:ext>
            </a:extLst>
          </p:cNvPr>
          <p:cNvSpPr>
            <a:spLocks noGrp="1"/>
          </p:cNvSpPr>
          <p:nvPr>
            <p:ph type="sldNum" sz="quarter" idx="5"/>
          </p:nvPr>
        </p:nvSpPr>
        <p:spPr/>
        <p:txBody>
          <a:bodyPr/>
          <a:lstStyle/>
          <a:p>
            <a:fld id="{C3101C2D-5E43-4AB3-B72A-44A7D7E13EFA}" type="slidenum">
              <a:rPr lang="en-US" smtClean="0"/>
              <a:t>16</a:t>
            </a:fld>
            <a:endParaRPr lang="en-US"/>
          </a:p>
        </p:txBody>
      </p:sp>
    </p:spTree>
    <p:extLst>
      <p:ext uri="{BB962C8B-B14F-4D97-AF65-F5344CB8AC3E}">
        <p14:creationId xmlns:p14="http://schemas.microsoft.com/office/powerpoint/2010/main" val="130734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9A3F-82D0-E1E3-B575-52FD4AE527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78EB01-65AC-FF4C-6E1D-48315CCE0A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9AC908-0A26-E659-284D-49AAC4F8FC29}"/>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425C1828-71D8-5239-BD7B-E0A72FCDED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275587-2145-1BE3-831D-872B8860B23A}"/>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4055811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44712-6388-DE1B-99F4-5EBA445BEF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F16AAB-73D9-9EA9-48DD-081BC106C8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919F4-A3A0-E269-15D9-C3CF1D305AA8}"/>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50DF3C39-EA61-21AC-2FC6-6700239F8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77D23-6E5E-50A8-985D-7324B9F63D83}"/>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1600426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B3C1F-6442-A576-56A7-07CA2A20C0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082D4-4EF4-2BB3-3850-9E19134FF7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175F73-6EC8-4BA0-E673-B4338EB87D3C}"/>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60748093-9887-59EA-34AF-5D1E1693F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027E5-B6AE-7F5F-55DF-5C4B5DE75ABE}"/>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2879234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4E53-0722-6F66-6CD6-230E8E996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65A58E-01EA-EE6B-1779-448408CE1B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AA9930-1AC3-7AAE-5D41-F6FCC870E7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7EA77C-FAC5-0BED-9E0E-4FF82727C9C3}"/>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6" name="Footer Placeholder 5">
            <a:extLst>
              <a:ext uri="{FF2B5EF4-FFF2-40B4-BE49-F238E27FC236}">
                <a16:creationId xmlns:a16="http://schemas.microsoft.com/office/drawing/2014/main" id="{DE01525D-D736-31CF-4EB8-5765B9CE45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AF9CC6-9A18-5F1B-7D90-6CBDED3849CE}"/>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970608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228AA-968B-5E16-3F83-71C97B9BCB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383264-AA49-363A-4DDA-E079F3A73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E4979-46A2-D8D3-348A-ECB170CBA2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7208DE-3C91-5AF9-3478-931E80A64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AD796B-AD8A-8E81-B812-5014356DAD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C62B95-026D-E4E0-E75A-490BE989818C}"/>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8" name="Footer Placeholder 7">
            <a:extLst>
              <a:ext uri="{FF2B5EF4-FFF2-40B4-BE49-F238E27FC236}">
                <a16:creationId xmlns:a16="http://schemas.microsoft.com/office/drawing/2014/main" id="{092BC86D-BF31-ABC0-E55A-8ECF80982E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9EF3CC-18C2-C4F1-DC44-8D4F317A6A3D}"/>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606560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09D0C-2CF9-0956-BE57-3ECB0826B7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B7B3F2-0B33-25E1-C61C-85AC11D15875}"/>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4" name="Footer Placeholder 3">
            <a:extLst>
              <a:ext uri="{FF2B5EF4-FFF2-40B4-BE49-F238E27FC236}">
                <a16:creationId xmlns:a16="http://schemas.microsoft.com/office/drawing/2014/main" id="{9F9C1882-BBB6-CED9-80FE-EACA931994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A1111D-C86E-BE6D-6722-D390602C1AED}"/>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3077951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9A7327-1226-2664-DEF8-A0A6AD1409D9}"/>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3" name="Footer Placeholder 2">
            <a:extLst>
              <a:ext uri="{FF2B5EF4-FFF2-40B4-BE49-F238E27FC236}">
                <a16:creationId xmlns:a16="http://schemas.microsoft.com/office/drawing/2014/main" id="{21F4D9CF-F5C7-D693-DABA-53AE56E350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E48248-01A2-A854-BE3D-869434F82123}"/>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398437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EC56-01F1-7F6E-BA49-3EA53C90ED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2C43D8-F0FA-A1DB-0515-59250F106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262BEB-F81C-C801-1074-CAC645D68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33894B-09C7-BA5A-D6EC-00B3F44F3362}"/>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6" name="Footer Placeholder 5">
            <a:extLst>
              <a:ext uri="{FF2B5EF4-FFF2-40B4-BE49-F238E27FC236}">
                <a16:creationId xmlns:a16="http://schemas.microsoft.com/office/drawing/2014/main" id="{DBD14CC0-C72A-2B85-4833-9CBF16A02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9ED6A1-60B4-8846-9E04-F92D0783847D}"/>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1347546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D394-B2F6-F8CC-A7E0-8CAA3F014E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B71422-338D-FCFE-656A-C5E551B08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372059-7340-5FC5-69B6-EAA78C72E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39E38B-EC9F-2A08-3A23-31C9FBF04110}"/>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6" name="Footer Placeholder 5">
            <a:extLst>
              <a:ext uri="{FF2B5EF4-FFF2-40B4-BE49-F238E27FC236}">
                <a16:creationId xmlns:a16="http://schemas.microsoft.com/office/drawing/2014/main" id="{BDE7AB9F-1F0B-F279-8DA3-7C347056E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2701A-F244-A8F9-B706-C598FA411F18}"/>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3626951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69A2-34D7-8F33-C840-F057A8E07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4D3FA5-2813-6885-DDF5-986E4A54B7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E9C0AC-8755-3D38-E600-FB0C00940A9B}"/>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BEC14EA0-FED2-CC2F-C3DB-6B7F841EC7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7E6439-D996-A51A-A7B9-1491DEF207BC}"/>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1881114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B0D57F-A02C-7F46-49C7-8989B39207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B6CB3B-16A0-9749-E735-8361D696F4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E0156-52B6-479A-0EBF-B2B3DBE528A5}"/>
              </a:ext>
            </a:extLst>
          </p:cNvPr>
          <p:cNvSpPr>
            <a:spLocks noGrp="1"/>
          </p:cNvSpPr>
          <p:nvPr>
            <p:ph type="dt" sz="half" idx="10"/>
          </p:nvPr>
        </p:nvSpPr>
        <p:spPr/>
        <p:txBody>
          <a:body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849B1CD5-38C9-3487-7623-2B238AFDA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BC3FA1-88D4-A6F1-2687-EA5225A5EEFD}"/>
              </a:ext>
            </a:extLst>
          </p:cNvPr>
          <p:cNvSpPr>
            <a:spLocks noGrp="1"/>
          </p:cNvSpPr>
          <p:nvPr>
            <p:ph type="sldNum" sz="quarter" idx="12"/>
          </p:nvPr>
        </p:nvSpPr>
        <p:spPr/>
        <p:txBody>
          <a:bodyPr/>
          <a:lstStyle/>
          <a:p>
            <a:fld id="{0EDA00FD-3E0D-40F0-99AA-DFEACD519ABE}" type="slidenum">
              <a:rPr lang="en-US" smtClean="0"/>
              <a:t>‹#›</a:t>
            </a:fld>
            <a:endParaRPr lang="en-US"/>
          </a:p>
        </p:txBody>
      </p:sp>
    </p:spTree>
    <p:extLst>
      <p:ext uri="{BB962C8B-B14F-4D97-AF65-F5344CB8AC3E}">
        <p14:creationId xmlns:p14="http://schemas.microsoft.com/office/powerpoint/2010/main" val="3350714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ADD78-6B9D-62D4-EA3F-F08E30005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690B65-E7A8-9B4B-8D76-CE876045CA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238F0-D415-CDC3-0549-DDE4018530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B187B8-8957-4CC2-8226-76B5518B308D}" type="datetimeFigureOut">
              <a:rPr lang="en-US" smtClean="0"/>
              <a:t>9/25/2025</a:t>
            </a:fld>
            <a:endParaRPr lang="en-US"/>
          </a:p>
        </p:txBody>
      </p:sp>
      <p:sp>
        <p:nvSpPr>
          <p:cNvPr id="5" name="Footer Placeholder 4">
            <a:extLst>
              <a:ext uri="{FF2B5EF4-FFF2-40B4-BE49-F238E27FC236}">
                <a16:creationId xmlns:a16="http://schemas.microsoft.com/office/drawing/2014/main" id="{C652465E-C969-A94D-7B71-336069FBB3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416DBD-D2C8-30FF-989D-5A72F85996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DA00FD-3E0D-40F0-99AA-DFEACD519ABE}" type="slidenum">
              <a:rPr lang="en-US" smtClean="0"/>
              <a:t>‹#›</a:t>
            </a:fld>
            <a:endParaRPr lang="en-US"/>
          </a:p>
        </p:txBody>
      </p:sp>
    </p:spTree>
    <p:extLst>
      <p:ext uri="{BB962C8B-B14F-4D97-AF65-F5344CB8AC3E}">
        <p14:creationId xmlns:p14="http://schemas.microsoft.com/office/powerpoint/2010/main" val="1881288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37" name="Rectangle 36">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F88973-04CD-1827-6345-D63FF0DA500A}"/>
              </a:ext>
            </a:extLst>
          </p:cNvPr>
          <p:cNvSpPr>
            <a:spLocks noGrp="1"/>
          </p:cNvSpPr>
          <p:nvPr>
            <p:ph type="ctrTitle"/>
          </p:nvPr>
        </p:nvSpPr>
        <p:spPr>
          <a:xfrm>
            <a:off x="1153618" y="1239927"/>
            <a:ext cx="4008586" cy="4680583"/>
          </a:xfrm>
        </p:spPr>
        <p:txBody>
          <a:bodyPr vert="horz" lIns="91440" tIns="45720" rIns="91440" bIns="45720" rtlCol="0" anchor="ctr">
            <a:normAutofit/>
          </a:bodyPr>
          <a:lstStyle/>
          <a:p>
            <a:pPr algn="l"/>
            <a:r>
              <a:rPr lang="en-US" sz="5200" kern="1200">
                <a:solidFill>
                  <a:schemeClr val="tx1"/>
                </a:solidFill>
                <a:latin typeface="+mj-lt"/>
                <a:ea typeface="+mj-ea"/>
                <a:cs typeface="+mj-cs"/>
              </a:rPr>
              <a:t>BANK LOAN ANALYTICS PROJECT</a:t>
            </a:r>
          </a:p>
        </p:txBody>
      </p:sp>
    </p:spTree>
    <p:extLst>
      <p:ext uri="{BB962C8B-B14F-4D97-AF65-F5344CB8AC3E}">
        <p14:creationId xmlns:p14="http://schemas.microsoft.com/office/powerpoint/2010/main" val="3833794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2F687420-BEB4-45CD-8226-339BE553B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D429E-726D-3642-6947-FDD512602D2F}"/>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INDEX</a:t>
            </a:r>
          </a:p>
        </p:txBody>
      </p:sp>
      <p:sp>
        <p:nvSpPr>
          <p:cNvPr id="65" name="Rectangle 6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97C11B6E-3B12-D437-D306-076746A9D0C4}"/>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kumimoji="0" lang="en-US" altLang="en-US" sz="1500" b="0" i="0" u="none" strike="noStrike" cap="none" normalizeH="0" baseline="0" dirty="0">
                <a:ln>
                  <a:noFill/>
                </a:ln>
                <a:effectLst/>
              </a:rPr>
              <a:t>KPI 1 – Loan Amount Trend</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2 – Revolving Balance by Grade</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3 – Payment by Verification Status</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4 – Loan Status Distribution</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5 – Home Ownership &amp; Payments</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6 – Top 10 Loan Purposes</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7 – Recovery Analysis by Grade</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KPI 8 – Avg Annual Income vs Loan Amount</a:t>
            </a:r>
          </a:p>
          <a:p>
            <a:pPr marL="0" marR="0" lvl="0" fontAlgn="base">
              <a:spcBef>
                <a:spcPct val="0"/>
              </a:spcBef>
              <a:spcAft>
                <a:spcPts val="600"/>
              </a:spcAft>
              <a:buClrTx/>
              <a:buSzTx/>
              <a:tabLst/>
            </a:pPr>
            <a:r>
              <a:rPr kumimoji="0" lang="en-US" altLang="en-US" sz="1500" b="0" i="0" u="none" strike="noStrike" cap="none" normalizeH="0" baseline="0">
                <a:ln>
                  <a:noFill/>
                </a:ln>
                <a:effectLst/>
              </a:rPr>
              <a:t>Dashboards</a:t>
            </a:r>
            <a:endParaRPr kumimoji="0" lang="en-US" altLang="en-US" sz="1500" b="0" i="0" u="none" strike="noStrike" cap="none" normalizeH="0" baseline="0" dirty="0">
              <a:ln>
                <a:noFill/>
              </a:ln>
              <a:effectLst/>
            </a:endParaRPr>
          </a:p>
          <a:p>
            <a:pPr marL="0" marR="0" lvl="0" fontAlgn="base">
              <a:spcBef>
                <a:spcPct val="0"/>
              </a:spcBef>
              <a:spcAft>
                <a:spcPts val="600"/>
              </a:spcAft>
              <a:buClrTx/>
              <a:buSzTx/>
              <a:tabLst/>
            </a:pPr>
            <a:r>
              <a:rPr kumimoji="0" lang="en-US" altLang="en-US" sz="1500" b="0" i="0" u="none" strike="noStrike" cap="none" normalizeH="0" baseline="0" dirty="0">
                <a:ln>
                  <a:noFill/>
                </a:ln>
                <a:effectLst/>
              </a:rPr>
              <a:t>Challenges &amp; Learnings</a:t>
            </a:r>
          </a:p>
        </p:txBody>
      </p:sp>
      <p:sp>
        <p:nvSpPr>
          <p:cNvPr id="67" name="Rectangle 6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des on papers">
            <a:extLst>
              <a:ext uri="{FF2B5EF4-FFF2-40B4-BE49-F238E27FC236}">
                <a16:creationId xmlns:a16="http://schemas.microsoft.com/office/drawing/2014/main" id="{675EF067-DF87-49F8-AA78-E803523E2C07}"/>
              </a:ext>
            </a:extLst>
          </p:cNvPr>
          <p:cNvPicPr>
            <a:picLocks noGrp="1" noChangeAspect="1"/>
          </p:cNvPicPr>
          <p:nvPr>
            <p:ph sz="half" idx="1"/>
          </p:nvPr>
        </p:nvPicPr>
        <p:blipFill>
          <a:blip r:embed="rId3"/>
          <a:srcRect l="16005" r="13436" b="2"/>
          <a:stretch>
            <a:fillRect/>
          </a:stretch>
        </p:blipFill>
        <p:spPr>
          <a:xfrm>
            <a:off x="5987738" y="650494"/>
            <a:ext cx="5628018" cy="5324142"/>
          </a:xfrm>
          <a:prstGeom prst="rect">
            <a:avLst/>
          </a:prstGeom>
        </p:spPr>
      </p:pic>
    </p:spTree>
    <p:extLst>
      <p:ext uri="{BB962C8B-B14F-4D97-AF65-F5344CB8AC3E}">
        <p14:creationId xmlns:p14="http://schemas.microsoft.com/office/powerpoint/2010/main" val="413510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357490-9F99-D95E-381D-591567ADE8A3}"/>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KPI 1: Loan Amount Trend by Year</a:t>
            </a:r>
          </a:p>
        </p:txBody>
      </p:sp>
      <p:sp>
        <p:nvSpPr>
          <p:cNvPr id="21" name="Rectangle 2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3">
            <a:extLst>
              <a:ext uri="{FF2B5EF4-FFF2-40B4-BE49-F238E27FC236}">
                <a16:creationId xmlns:a16="http://schemas.microsoft.com/office/drawing/2014/main" id="{F40E5A63-48C6-5FE9-CC37-06ABB7D7B3BA}"/>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fontAlgn="base">
              <a:spcBef>
                <a:spcPct val="0"/>
              </a:spcBef>
              <a:spcAft>
                <a:spcPts val="600"/>
              </a:spcAft>
            </a:pPr>
            <a:r>
              <a:rPr lang="en-US" altLang="en-US" sz="1800"/>
              <a:t>Loan disbursement started very small in 2007 ($2M) and gradually increased.</a:t>
            </a:r>
          </a:p>
          <a:p>
            <a:pPr marL="0" fontAlgn="base">
              <a:spcBef>
                <a:spcPct val="0"/>
              </a:spcBef>
              <a:spcAft>
                <a:spcPts val="600"/>
              </a:spcAft>
            </a:pPr>
            <a:r>
              <a:rPr lang="en-US" altLang="en-US" sz="1800"/>
              <a:t>By 2008 and 2009, lending volumes grew to $14M and $46M.</a:t>
            </a:r>
          </a:p>
          <a:p>
            <a:pPr marL="0" fontAlgn="base">
              <a:spcBef>
                <a:spcPct val="0"/>
              </a:spcBef>
              <a:spcAft>
                <a:spcPts val="600"/>
              </a:spcAft>
            </a:pPr>
            <a:r>
              <a:rPr lang="en-US" altLang="en-US" sz="1800"/>
              <a:t>A major jump is seen in 2010 ($122M), showing rapid expansion in loan issuance.</a:t>
            </a:r>
          </a:p>
          <a:p>
            <a:pPr marL="0" fontAlgn="base">
              <a:spcBef>
                <a:spcPct val="0"/>
              </a:spcBef>
              <a:spcAft>
                <a:spcPts val="600"/>
              </a:spcAft>
            </a:pPr>
            <a:r>
              <a:rPr lang="en-US" altLang="en-US" sz="1800"/>
              <a:t>The highest growth occurred in 2011 with $261M, more than double 2010.</a:t>
            </a:r>
          </a:p>
          <a:p>
            <a:pPr marL="0" fontAlgn="base">
              <a:spcBef>
                <a:spcPct val="0"/>
              </a:spcBef>
              <a:spcAft>
                <a:spcPts val="600"/>
              </a:spcAft>
            </a:pPr>
            <a:r>
              <a:rPr lang="en-US" altLang="en-US" sz="1800"/>
              <a:t>Overall, loans show a strong upward trend, indicating rising customer demand and credit penetration.</a:t>
            </a:r>
          </a:p>
        </p:txBody>
      </p:sp>
      <p:sp>
        <p:nvSpPr>
          <p:cNvPr id="23" name="Rectangle 2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E818DC3-69B2-5316-18FF-61D89A87F733}"/>
              </a:ext>
            </a:extLst>
          </p:cNvPr>
          <p:cNvPicPr>
            <a:picLocks noChangeAspect="1"/>
          </p:cNvPicPr>
          <p:nvPr/>
        </p:nvPicPr>
        <p:blipFill>
          <a:blip r:embed="rId3"/>
          <a:stretch>
            <a:fillRect/>
          </a:stretch>
        </p:blipFill>
        <p:spPr>
          <a:xfrm>
            <a:off x="5987738" y="2005829"/>
            <a:ext cx="5628018" cy="2613471"/>
          </a:xfrm>
          <a:prstGeom prst="rect">
            <a:avLst/>
          </a:prstGeom>
        </p:spPr>
      </p:pic>
    </p:spTree>
    <p:extLst>
      <p:ext uri="{BB962C8B-B14F-4D97-AF65-F5344CB8AC3E}">
        <p14:creationId xmlns:p14="http://schemas.microsoft.com/office/powerpoint/2010/main" val="1088903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21D83-437B-6689-EA10-71C925146AA5}"/>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KPI 2: Revolving Balance by Grade &amp; Sub-Grade</a:t>
            </a:r>
          </a:p>
        </p:txBody>
      </p:sp>
      <p:sp>
        <p:nvSpPr>
          <p:cNvPr id="27" name="Rectangle 2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229D2499-BCF3-3895-2DED-23F9B4F297B0}"/>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lang="en-US" altLang="en-US" sz="1500" dirty="0"/>
              <a:t>The highest revolving balances are concentrated in Grade B, especially sub-grades B3 ($40M), B4 ($38M), and B5 ($34M).</a:t>
            </a:r>
          </a:p>
          <a:p>
            <a:pPr marL="0" marR="0" lvl="0" fontAlgn="base">
              <a:spcBef>
                <a:spcPct val="0"/>
              </a:spcBef>
              <a:spcAft>
                <a:spcPts val="600"/>
              </a:spcAft>
              <a:buClrTx/>
              <a:buSzTx/>
              <a:tabLst/>
            </a:pPr>
            <a:r>
              <a:rPr lang="en-US" altLang="en-US" sz="1500" dirty="0"/>
              <a:t>Grade A also holds significant balances, with sub-grades A4 ($20M) and A5 ($35M) leading.</a:t>
            </a:r>
          </a:p>
          <a:p>
            <a:pPr marL="0" marR="0" lvl="0" fontAlgn="base">
              <a:spcBef>
                <a:spcPct val="0"/>
              </a:spcBef>
              <a:spcAft>
                <a:spcPts val="600"/>
              </a:spcAft>
              <a:buClrTx/>
              <a:buSzTx/>
              <a:tabLst/>
            </a:pPr>
            <a:r>
              <a:rPr lang="en-US" altLang="en-US" sz="1500" dirty="0"/>
              <a:t>Grade C shows moderate balances, with C1 ($29M) and C2 ($22M) as key contributors.</a:t>
            </a:r>
          </a:p>
          <a:p>
            <a:pPr marL="0" marR="0" lvl="0" fontAlgn="base">
              <a:spcBef>
                <a:spcPct val="0"/>
              </a:spcBef>
              <a:spcAft>
                <a:spcPts val="600"/>
              </a:spcAft>
              <a:buClrTx/>
              <a:buSzTx/>
              <a:tabLst/>
            </a:pPr>
            <a:r>
              <a:rPr lang="en-US" altLang="en-US" sz="1500" dirty="0"/>
              <a:t>Grades D and E show declining balances, ranging from $14M to $6M, indicating lower loan activity.</a:t>
            </a:r>
          </a:p>
          <a:p>
            <a:pPr marL="0" marR="0" lvl="0" fontAlgn="base">
              <a:spcBef>
                <a:spcPct val="0"/>
              </a:spcBef>
              <a:spcAft>
                <a:spcPts val="600"/>
              </a:spcAft>
              <a:buClrTx/>
              <a:buSzTx/>
              <a:tabLst/>
            </a:pPr>
            <a:r>
              <a:rPr lang="en-US" altLang="en-US" sz="1500" dirty="0"/>
              <a:t>Grades F and G have the least revolving balances (mostly &lt; $5M), highlighting limited exposure but potentially higher credit risk.</a:t>
            </a:r>
          </a:p>
        </p:txBody>
      </p:sp>
      <p:sp>
        <p:nvSpPr>
          <p:cNvPr id="29" name="Rectangle 2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a:extLst>
              <a:ext uri="{FF2B5EF4-FFF2-40B4-BE49-F238E27FC236}">
                <a16:creationId xmlns:a16="http://schemas.microsoft.com/office/drawing/2014/main" id="{D63FB4C9-D547-B669-FA86-C13F29829CFB}"/>
              </a:ext>
            </a:extLst>
          </p:cNvPr>
          <p:cNvPicPr>
            <a:picLocks noGrp="1" noChangeAspect="1"/>
          </p:cNvPicPr>
          <p:nvPr>
            <p:ph sz="half" idx="1"/>
          </p:nvPr>
        </p:nvPicPr>
        <p:blipFill>
          <a:blip r:embed="rId3"/>
          <a:stretch>
            <a:fillRect/>
          </a:stretch>
        </p:blipFill>
        <p:spPr>
          <a:xfrm>
            <a:off x="5987738" y="2173693"/>
            <a:ext cx="5628018" cy="2277744"/>
          </a:xfrm>
          <a:prstGeom prst="rect">
            <a:avLst/>
          </a:prstGeom>
        </p:spPr>
      </p:pic>
    </p:spTree>
    <p:extLst>
      <p:ext uri="{BB962C8B-B14F-4D97-AF65-F5344CB8AC3E}">
        <p14:creationId xmlns:p14="http://schemas.microsoft.com/office/powerpoint/2010/main" val="156411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F687420-BEB4-45CD-8226-339BE553B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F510C3-E1BB-A733-C8AE-9A0BB2B3F4D0}"/>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KPI 3 – Total Payment by Verification Status</a:t>
            </a:r>
          </a:p>
        </p:txBody>
      </p:sp>
      <p:sp>
        <p:nvSpPr>
          <p:cNvPr id="18" name="Rectangle 1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047987B8-2785-539E-CE8A-DE2DFE329D39}"/>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lang="en-US" altLang="en-US" sz="1800" dirty="0"/>
              <a:t>Verified customers contribute a higher total payment of $219M.</a:t>
            </a:r>
          </a:p>
          <a:p>
            <a:pPr marL="0" marR="0" lvl="0" fontAlgn="base">
              <a:spcBef>
                <a:spcPct val="0"/>
              </a:spcBef>
              <a:spcAft>
                <a:spcPts val="600"/>
              </a:spcAft>
              <a:buClrTx/>
              <a:buSzTx/>
              <a:tabLst/>
            </a:pPr>
            <a:r>
              <a:rPr lang="en-US" altLang="en-US" sz="1800" dirty="0"/>
              <a:t>Non-verified customers contribute $153M, which is lower despite similar loan availability.</a:t>
            </a:r>
          </a:p>
          <a:p>
            <a:pPr marL="0" marR="0" lvl="0" fontAlgn="base">
              <a:spcBef>
                <a:spcPct val="0"/>
              </a:spcBef>
              <a:spcAft>
                <a:spcPts val="600"/>
              </a:spcAft>
              <a:buClrTx/>
              <a:buSzTx/>
              <a:tabLst/>
            </a:pPr>
            <a:r>
              <a:rPr lang="en-US" altLang="en-US" sz="1800" dirty="0"/>
              <a:t>Verified loans show greater repayment reliability compared to non-verified ones.</a:t>
            </a:r>
          </a:p>
          <a:p>
            <a:pPr marL="0" marR="0" lvl="0" fontAlgn="base">
              <a:spcBef>
                <a:spcPct val="0"/>
              </a:spcBef>
              <a:spcAft>
                <a:spcPts val="600"/>
              </a:spcAft>
              <a:buClrTx/>
              <a:buSzTx/>
              <a:tabLst/>
            </a:pPr>
            <a:r>
              <a:rPr lang="en-US" altLang="en-US" sz="1800" dirty="0"/>
              <a:t>The difference highlights that verification reduces default risk and increases repayment performance.</a:t>
            </a:r>
          </a:p>
        </p:txBody>
      </p:sp>
      <p:sp>
        <p:nvSpPr>
          <p:cNvPr id="20" name="Rectangle 1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C8A2084-4D8D-7710-F46E-D2C9904D4103}"/>
              </a:ext>
            </a:extLst>
          </p:cNvPr>
          <p:cNvPicPr>
            <a:picLocks noChangeAspect="1"/>
          </p:cNvPicPr>
          <p:nvPr/>
        </p:nvPicPr>
        <p:blipFill>
          <a:blip r:embed="rId3"/>
          <a:stretch>
            <a:fillRect/>
          </a:stretch>
        </p:blipFill>
        <p:spPr>
          <a:xfrm>
            <a:off x="6552292" y="943429"/>
            <a:ext cx="4725308" cy="4078514"/>
          </a:xfrm>
          <a:prstGeom prst="rect">
            <a:avLst/>
          </a:prstGeom>
        </p:spPr>
      </p:pic>
    </p:spTree>
    <p:extLst>
      <p:ext uri="{BB962C8B-B14F-4D97-AF65-F5344CB8AC3E}">
        <p14:creationId xmlns:p14="http://schemas.microsoft.com/office/powerpoint/2010/main" val="3732198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91EE8C-C1F2-1E0D-F765-120A2E7E25BA}"/>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2800" b="1"/>
              <a:t>KPI 4 – Loan Status Distribution (State wise &amp; Month wise)</a:t>
            </a:r>
            <a:endParaRPr lang="en-US" sz="2800" b="1" dirty="0"/>
          </a:p>
        </p:txBody>
      </p:sp>
      <p:grpSp>
        <p:nvGrpSpPr>
          <p:cNvPr id="27"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9" name="Rectangle 1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5490F6E-530E-ECA9-9B45-8B6F48C59C26}"/>
              </a:ext>
            </a:extLst>
          </p:cNvPr>
          <p:cNvSpPr>
            <a:spLocks noGrp="1"/>
          </p:cNvSpPr>
          <p:nvPr>
            <p:ph sz="half" idx="2"/>
          </p:nvPr>
        </p:nvSpPr>
        <p:spPr>
          <a:xfrm>
            <a:off x="590719" y="2330505"/>
            <a:ext cx="5278066" cy="3979585"/>
          </a:xfrm>
        </p:spPr>
        <p:txBody>
          <a:bodyPr vert="horz" lIns="91440" tIns="45720" rIns="91440" bIns="45720" rtlCol="0" anchor="ctr">
            <a:normAutofit/>
          </a:bodyPr>
          <a:lstStyle/>
          <a:p>
            <a:pPr marL="0"/>
            <a:r>
              <a:rPr lang="en-US" sz="1300" b="1" dirty="0"/>
              <a:t>(State wise):</a:t>
            </a:r>
          </a:p>
          <a:p>
            <a:r>
              <a:rPr lang="en-US" sz="1300" dirty="0"/>
              <a:t>California (CA), Texas (TX), and New York (NY) have the highest number of loans issued.</a:t>
            </a:r>
          </a:p>
          <a:p>
            <a:r>
              <a:rPr lang="en-US" sz="1300" dirty="0"/>
              <a:t>Midwestern states such as IL, OH, and MI show moderate loan distribution.</a:t>
            </a:r>
          </a:p>
          <a:p>
            <a:r>
              <a:rPr lang="en-US" sz="1300" dirty="0"/>
              <a:t>Several smaller states record relatively low loan volumes, indicating concentrated lending in key regions.</a:t>
            </a:r>
          </a:p>
          <a:p>
            <a:r>
              <a:rPr lang="en-US" sz="1300" dirty="0"/>
              <a:t>Default and late payment statuses are also more visible in high-loan states like CA and TX.</a:t>
            </a:r>
          </a:p>
          <a:p>
            <a:pPr marL="0"/>
            <a:r>
              <a:rPr lang="en-US" sz="1300" b="1" dirty="0"/>
              <a:t>(Month wise):</a:t>
            </a:r>
          </a:p>
          <a:p>
            <a:r>
              <a:rPr lang="en-US" sz="1300" dirty="0"/>
              <a:t>Loan issuances show seasonal variation, with dip in Q2 (Apr–Jun).</a:t>
            </a:r>
          </a:p>
          <a:p>
            <a:r>
              <a:rPr lang="en-US" sz="1300" dirty="0"/>
              <a:t>December consistently shows </a:t>
            </a:r>
            <a:r>
              <a:rPr lang="en-US" sz="1300"/>
              <a:t>a peaks, </a:t>
            </a:r>
            <a:r>
              <a:rPr lang="en-US" sz="1300" dirty="0"/>
              <a:t>possibly due to year-end/holiday effects.</a:t>
            </a:r>
          </a:p>
          <a:p>
            <a:r>
              <a:rPr lang="en-US" sz="1300" dirty="0"/>
              <a:t>Overall trend indicates increasing loan activity year-over-year.</a:t>
            </a:r>
          </a:p>
          <a:p>
            <a:endParaRPr lang="en-US" sz="1300" dirty="0"/>
          </a:p>
          <a:p>
            <a:endParaRPr lang="en-US" sz="1300" dirty="0"/>
          </a:p>
        </p:txBody>
      </p:sp>
      <p:sp>
        <p:nvSpPr>
          <p:cNvPr id="24" name="Rectangle 2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01A334A-1617-EFED-57B4-C8268F111CBB}"/>
              </a:ext>
            </a:extLst>
          </p:cNvPr>
          <p:cNvPicPr>
            <a:picLocks noChangeAspect="1"/>
          </p:cNvPicPr>
          <p:nvPr/>
        </p:nvPicPr>
        <p:blipFill>
          <a:blip r:embed="rId3"/>
          <a:stretch>
            <a:fillRect/>
          </a:stretch>
        </p:blipFill>
        <p:spPr>
          <a:xfrm>
            <a:off x="7083423" y="886055"/>
            <a:ext cx="4397433" cy="1910430"/>
          </a:xfrm>
          <a:prstGeom prst="rect">
            <a:avLst/>
          </a:prstGeom>
        </p:spPr>
      </p:pic>
      <p:sp>
        <p:nvSpPr>
          <p:cNvPr id="28" name="Rectangle 27">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5912230-DE0A-635E-F012-89BACF0B0A8D}"/>
              </a:ext>
            </a:extLst>
          </p:cNvPr>
          <p:cNvPicPr>
            <a:picLocks noChangeAspect="1"/>
          </p:cNvPicPr>
          <p:nvPr/>
        </p:nvPicPr>
        <p:blipFill>
          <a:blip r:embed="rId4"/>
          <a:stretch>
            <a:fillRect/>
          </a:stretch>
        </p:blipFill>
        <p:spPr>
          <a:xfrm>
            <a:off x="7083423" y="3830856"/>
            <a:ext cx="4395569" cy="2272831"/>
          </a:xfrm>
          <a:prstGeom prst="rect">
            <a:avLst/>
          </a:prstGeom>
        </p:spPr>
      </p:pic>
    </p:spTree>
    <p:extLst>
      <p:ext uri="{BB962C8B-B14F-4D97-AF65-F5344CB8AC3E}">
        <p14:creationId xmlns:p14="http://schemas.microsoft.com/office/powerpoint/2010/main" val="1608727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EC880-E02D-094E-70CE-A27C32BC1EF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A565F09-B9CE-04A9-8522-E62B289FD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50F29-299F-2705-F200-9660CA16FEDC}"/>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KPI 5 – Home Ownership vs Last Payment Date</a:t>
            </a:r>
          </a:p>
        </p:txBody>
      </p:sp>
      <p:sp>
        <p:nvSpPr>
          <p:cNvPr id="18" name="Rectangle 17">
            <a:extLst>
              <a:ext uri="{FF2B5EF4-FFF2-40B4-BE49-F238E27FC236}">
                <a16:creationId xmlns:a16="http://schemas.microsoft.com/office/drawing/2014/main" id="{07DF59C4-9097-013C-89E5-2A2ED8E5D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0F212F-9117-5F26-F28D-4C0992500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28636AF-6B67-231F-64EE-C77C28DD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E09D97E-FBAE-F491-82BD-C1FBBE3A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2372BB74-E9BC-55D2-01FA-ABE1491E9B4D}"/>
              </a:ext>
            </a:extLst>
          </p:cNvPr>
          <p:cNvSpPr>
            <a:spLocks noGrp="1" noChangeArrowheads="1"/>
          </p:cNvSpPr>
          <p:nvPr>
            <p:ph sz="half" idx="2"/>
          </p:nvPr>
        </p:nvSpPr>
        <p:spPr bwMode="auto">
          <a:xfrm>
            <a:off x="644525" y="2078822"/>
            <a:ext cx="474203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Mortgage holders form the largest share of active loans and continue repayments up to the latest available dates.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Own Home customers also show consistent repayment timelines, indicating financial stability.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Renters have comparatively fewer loans, and repayment activity tends to taper off earlier than mortgage/own home groups.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The most recent payment dates are dominated by Mortgage and Own Home categories, while Renter loans decline faster.</a:t>
            </a:r>
          </a:p>
        </p:txBody>
      </p:sp>
      <p:pic>
        <p:nvPicPr>
          <p:cNvPr id="7" name="Picture 6">
            <a:extLst>
              <a:ext uri="{FF2B5EF4-FFF2-40B4-BE49-F238E27FC236}">
                <a16:creationId xmlns:a16="http://schemas.microsoft.com/office/drawing/2014/main" id="{A27887E9-C398-6AC5-9C1A-1867AD995CB7}"/>
              </a:ext>
            </a:extLst>
          </p:cNvPr>
          <p:cNvPicPr>
            <a:picLocks noChangeAspect="1"/>
          </p:cNvPicPr>
          <p:nvPr/>
        </p:nvPicPr>
        <p:blipFill>
          <a:blip r:embed="rId3"/>
          <a:stretch>
            <a:fillRect/>
          </a:stretch>
        </p:blipFill>
        <p:spPr>
          <a:xfrm>
            <a:off x="6443461" y="1611086"/>
            <a:ext cx="5104014" cy="3686627"/>
          </a:xfrm>
          <a:prstGeom prst="rect">
            <a:avLst/>
          </a:prstGeom>
        </p:spPr>
      </p:pic>
    </p:spTree>
    <p:extLst>
      <p:ext uri="{BB962C8B-B14F-4D97-AF65-F5344CB8AC3E}">
        <p14:creationId xmlns:p14="http://schemas.microsoft.com/office/powerpoint/2010/main" val="3228110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CAC053-4B0B-321D-F2ED-D672E8390B2B}"/>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C9C06-63E9-FB9D-0BF2-E2466108DDA8}"/>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800" b="1" dirty="0"/>
              <a:t>KPI 6 – Top 10 Loan Purposes</a:t>
            </a:r>
          </a:p>
        </p:txBody>
      </p:sp>
      <p:sp>
        <p:nvSpPr>
          <p:cNvPr id="31" name="Rectangle 3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4EF08530-078A-D9BA-4255-A293AF145DC3}"/>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lang="en-US" altLang="en-US" sz="1500" dirty="0"/>
              <a:t>Debt Consolidation dominates as the largest loan purpose, accounting for the majority of loan amounts.</a:t>
            </a:r>
          </a:p>
          <a:p>
            <a:pPr marL="0" marR="0" lvl="0" fontAlgn="base">
              <a:spcBef>
                <a:spcPct val="0"/>
              </a:spcBef>
              <a:spcAft>
                <a:spcPts val="600"/>
              </a:spcAft>
              <a:buClrTx/>
              <a:buSzTx/>
              <a:tabLst/>
            </a:pPr>
            <a:r>
              <a:rPr lang="en-US" altLang="en-US" sz="1500" dirty="0"/>
              <a:t>Credit Card loans are the second highest category, reflecting consumer spending patterns.</a:t>
            </a:r>
          </a:p>
          <a:p>
            <a:pPr marL="0" marR="0" lvl="0" fontAlgn="base">
              <a:spcBef>
                <a:spcPct val="0"/>
              </a:spcBef>
              <a:spcAft>
                <a:spcPts val="600"/>
              </a:spcAft>
              <a:buClrTx/>
              <a:buSzTx/>
              <a:tabLst/>
            </a:pPr>
            <a:r>
              <a:rPr lang="en-US" altLang="en-US" sz="1500" dirty="0"/>
              <a:t>Home Improvement ranks third, showing demand for personal property upgrades financed through loans.</a:t>
            </a:r>
          </a:p>
          <a:p>
            <a:pPr marL="0" marR="0" lvl="0" fontAlgn="base">
              <a:spcBef>
                <a:spcPct val="0"/>
              </a:spcBef>
              <a:spcAft>
                <a:spcPts val="600"/>
              </a:spcAft>
              <a:buClrTx/>
              <a:buSzTx/>
              <a:tabLst/>
            </a:pPr>
            <a:r>
              <a:rPr lang="en-US" altLang="en-US" sz="1500" dirty="0"/>
              <a:t>Other notable categories include Major Purchase, Medical, and Small Business loans, though they are comparatively smaller.</a:t>
            </a:r>
          </a:p>
          <a:p>
            <a:pPr marL="0" marR="0" lvl="0" fontAlgn="base">
              <a:spcBef>
                <a:spcPct val="0"/>
              </a:spcBef>
              <a:spcAft>
                <a:spcPts val="600"/>
              </a:spcAft>
              <a:buClrTx/>
              <a:buSzTx/>
              <a:tabLst/>
            </a:pPr>
            <a:r>
              <a:rPr lang="en-US" altLang="en-US" sz="1500" dirty="0"/>
              <a:t>The “Other” category is minimal, suggesting most loans fall under well-defined purposes.</a:t>
            </a:r>
          </a:p>
        </p:txBody>
      </p:sp>
      <p:sp>
        <p:nvSpPr>
          <p:cNvPr id="33" name="Rectangle 3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812A1BB-0858-54B6-F176-49EC35FFFA22}"/>
              </a:ext>
            </a:extLst>
          </p:cNvPr>
          <p:cNvPicPr>
            <a:picLocks noChangeAspect="1"/>
          </p:cNvPicPr>
          <p:nvPr/>
        </p:nvPicPr>
        <p:blipFill>
          <a:blip r:embed="rId3"/>
          <a:stretch>
            <a:fillRect/>
          </a:stretch>
        </p:blipFill>
        <p:spPr>
          <a:xfrm>
            <a:off x="5987738" y="1849838"/>
            <a:ext cx="5628018" cy="2925454"/>
          </a:xfrm>
          <a:prstGeom prst="rect">
            <a:avLst/>
          </a:prstGeom>
        </p:spPr>
      </p:pic>
    </p:spTree>
    <p:extLst>
      <p:ext uri="{BB962C8B-B14F-4D97-AF65-F5344CB8AC3E}">
        <p14:creationId xmlns:p14="http://schemas.microsoft.com/office/powerpoint/2010/main" val="3010718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679DF1-7DA9-FC35-B3B0-5ADCB8DF711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32BF1-CB86-1E3B-52BD-67EFD2427ADE}"/>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b="1" kern="1200" dirty="0">
                <a:solidFill>
                  <a:schemeClr val="tx1"/>
                </a:solidFill>
                <a:latin typeface="+mj-lt"/>
                <a:ea typeface="+mj-ea"/>
                <a:cs typeface="+mj-cs"/>
              </a:rPr>
              <a:t>KPI 7 – Recovery Analysis by Grade</a:t>
            </a:r>
          </a:p>
        </p:txBody>
      </p:sp>
      <p:sp>
        <p:nvSpPr>
          <p:cNvPr id="44" name="Rectangle 4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
            <a:extLst>
              <a:ext uri="{FF2B5EF4-FFF2-40B4-BE49-F238E27FC236}">
                <a16:creationId xmlns:a16="http://schemas.microsoft.com/office/drawing/2014/main" id="{895F8E26-B966-6005-755C-F28B18F485E8}"/>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lang="en-US" altLang="en-US" sz="1500" dirty="0"/>
              <a:t>Grade A and B loans show the highest recovery amounts and rates, indicating strong repayment performance.</a:t>
            </a:r>
          </a:p>
          <a:p>
            <a:pPr marL="0" marR="0" lvl="0" fontAlgn="base">
              <a:spcBef>
                <a:spcPct val="0"/>
              </a:spcBef>
              <a:spcAft>
                <a:spcPts val="600"/>
              </a:spcAft>
              <a:buClrTx/>
              <a:buSzTx/>
              <a:tabLst/>
            </a:pPr>
            <a:r>
              <a:rPr lang="en-US" altLang="en-US" sz="1500" dirty="0"/>
              <a:t>Grades C and D display moderate recoveries, but the recovery rate drops compared to premium grades.</a:t>
            </a:r>
          </a:p>
          <a:p>
            <a:pPr marL="0" marR="0" lvl="0" fontAlgn="base">
              <a:spcBef>
                <a:spcPct val="0"/>
              </a:spcBef>
              <a:spcAft>
                <a:spcPts val="600"/>
              </a:spcAft>
              <a:buClrTx/>
              <a:buSzTx/>
              <a:tabLst/>
            </a:pPr>
            <a:r>
              <a:rPr lang="en-US" altLang="en-US" sz="1500" dirty="0"/>
              <a:t>Grades E, F, and G contribute minimal recoveries, reflecting weaker repayment capability.</a:t>
            </a:r>
          </a:p>
          <a:p>
            <a:pPr marL="0" marR="0" lvl="0" fontAlgn="base">
              <a:spcBef>
                <a:spcPct val="0"/>
              </a:spcBef>
              <a:spcAft>
                <a:spcPts val="600"/>
              </a:spcAft>
              <a:buClrTx/>
              <a:buSzTx/>
              <a:tabLst/>
            </a:pPr>
            <a:r>
              <a:rPr lang="en-US" altLang="en-US" sz="1500" dirty="0"/>
              <a:t>A clear inverse relationship exists: as credit grade decreases, the recovery rate falls sharply.</a:t>
            </a:r>
          </a:p>
        </p:txBody>
      </p:sp>
      <p:sp>
        <p:nvSpPr>
          <p:cNvPr id="46" name="Rectangle 4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6D7A4A2-18D3-97FF-F9EF-7C917F6C69FD}"/>
              </a:ext>
            </a:extLst>
          </p:cNvPr>
          <p:cNvPicPr>
            <a:picLocks noChangeAspect="1"/>
          </p:cNvPicPr>
          <p:nvPr/>
        </p:nvPicPr>
        <p:blipFill>
          <a:blip r:embed="rId3"/>
          <a:stretch>
            <a:fillRect/>
          </a:stretch>
        </p:blipFill>
        <p:spPr>
          <a:xfrm>
            <a:off x="6438451" y="1740968"/>
            <a:ext cx="5108483" cy="3375427"/>
          </a:xfrm>
          <a:prstGeom prst="rect">
            <a:avLst/>
          </a:prstGeom>
        </p:spPr>
      </p:pic>
    </p:spTree>
    <p:extLst>
      <p:ext uri="{BB962C8B-B14F-4D97-AF65-F5344CB8AC3E}">
        <p14:creationId xmlns:p14="http://schemas.microsoft.com/office/powerpoint/2010/main" val="3727294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5572FD-0857-FA46-1AB6-3B3A302CE973}"/>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6B9EFB-508F-A65F-DB67-05FE22A4B490}"/>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500" b="1" kern="1200" dirty="0">
                <a:solidFill>
                  <a:schemeClr val="tx1"/>
                </a:solidFill>
                <a:latin typeface="+mj-lt"/>
                <a:ea typeface="+mj-ea"/>
                <a:cs typeface="+mj-cs"/>
              </a:rPr>
              <a:t>KPI 8 – Avg Annual Income vs Avg Loan Amount (by Grade)</a:t>
            </a:r>
          </a:p>
        </p:txBody>
      </p:sp>
      <p:sp>
        <p:nvSpPr>
          <p:cNvPr id="57" name="Rectangle 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4C760836-8987-7B61-D8BA-D9D2A6D92F76}"/>
              </a:ext>
            </a:extLst>
          </p:cNvPr>
          <p:cNvSpPr>
            <a:spLocks noGrp="1" noChangeArrowheads="1"/>
          </p:cNvSpPr>
          <p:nvPr>
            <p:ph sz="half" idx="2"/>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fontAlgn="base">
              <a:spcBef>
                <a:spcPct val="0"/>
              </a:spcBef>
              <a:spcAft>
                <a:spcPts val="600"/>
              </a:spcAft>
              <a:buClrTx/>
              <a:buSzTx/>
              <a:tabLst/>
            </a:pPr>
            <a:r>
              <a:rPr kumimoji="0" lang="en-US" altLang="en-US" sz="1500" b="1" i="0" u="none" strike="noStrike" cap="none" normalizeH="0" baseline="0" dirty="0">
                <a:ln>
                  <a:noFill/>
                </a:ln>
                <a:effectLst/>
              </a:rPr>
              <a:t>Higher credit grades (A &amp; B)</a:t>
            </a:r>
            <a:r>
              <a:rPr kumimoji="0" lang="en-US" altLang="en-US" sz="1500" b="0" i="0" u="none" strike="noStrike" cap="none" normalizeH="0" baseline="0" dirty="0">
                <a:ln>
                  <a:noFill/>
                </a:ln>
                <a:effectLst/>
              </a:rPr>
              <a:t> show </a:t>
            </a:r>
            <a:r>
              <a:rPr kumimoji="0" lang="en-US" altLang="en-US" sz="1500" b="1" i="0" u="none" strike="noStrike" cap="none" normalizeH="0" baseline="0" dirty="0">
                <a:ln>
                  <a:noFill/>
                </a:ln>
                <a:effectLst/>
              </a:rPr>
              <a:t>higher average annual incomes</a:t>
            </a:r>
            <a:r>
              <a:rPr kumimoji="0" lang="en-US" altLang="en-US" sz="1500" b="0" i="0" u="none" strike="noStrike" cap="none" normalizeH="0" baseline="0" dirty="0">
                <a:ln>
                  <a:noFill/>
                </a:ln>
                <a:effectLst/>
              </a:rPr>
              <a:t> paired with </a:t>
            </a:r>
            <a:r>
              <a:rPr kumimoji="0" lang="en-US" altLang="en-US" sz="1500" b="1" i="0" u="none" strike="noStrike" cap="none" normalizeH="0" baseline="0" dirty="0">
                <a:ln>
                  <a:noFill/>
                </a:ln>
                <a:effectLst/>
              </a:rPr>
              <a:t>moderate loan amounts</a:t>
            </a:r>
            <a:r>
              <a:rPr kumimoji="0" lang="en-US" altLang="en-US" sz="1500" b="0" i="0" u="none" strike="noStrike" cap="none" normalizeH="0" baseline="0" dirty="0">
                <a:ln>
                  <a:noFill/>
                </a:ln>
                <a:effectLst/>
              </a:rPr>
              <a:t>, reflecting strong repayment capacity.</a:t>
            </a:r>
          </a:p>
          <a:p>
            <a:pPr marL="0" marR="0" lvl="0" fontAlgn="base">
              <a:spcBef>
                <a:spcPct val="0"/>
              </a:spcBef>
              <a:spcAft>
                <a:spcPts val="600"/>
              </a:spcAft>
              <a:buClrTx/>
              <a:buSzTx/>
              <a:tabLst/>
            </a:pPr>
            <a:r>
              <a:rPr kumimoji="0" lang="en-US" altLang="en-US" sz="1500" b="1" i="0" u="none" strike="noStrike" cap="none" normalizeH="0" baseline="0" dirty="0">
                <a:ln>
                  <a:noFill/>
                </a:ln>
                <a:effectLst/>
              </a:rPr>
              <a:t>Mid-level grades (C &amp; D)</a:t>
            </a:r>
            <a:r>
              <a:rPr kumimoji="0" lang="en-US" altLang="en-US" sz="1500" b="0" i="0" u="none" strike="noStrike" cap="none" normalizeH="0" baseline="0" dirty="0">
                <a:ln>
                  <a:noFill/>
                </a:ln>
                <a:effectLst/>
              </a:rPr>
              <a:t> display a balance between income and loan size, but repayment risk begins to increase.</a:t>
            </a:r>
          </a:p>
          <a:p>
            <a:pPr marL="0" marR="0" lvl="0" fontAlgn="base">
              <a:spcBef>
                <a:spcPct val="0"/>
              </a:spcBef>
              <a:spcAft>
                <a:spcPts val="600"/>
              </a:spcAft>
              <a:buClrTx/>
              <a:buSzTx/>
              <a:tabLst/>
            </a:pPr>
            <a:r>
              <a:rPr kumimoji="0" lang="en-US" altLang="en-US" sz="1500" b="1" i="0" u="none" strike="noStrike" cap="none" normalizeH="0" baseline="0" dirty="0">
                <a:ln>
                  <a:noFill/>
                </a:ln>
                <a:effectLst/>
              </a:rPr>
              <a:t>Lower grades (E, F, G)</a:t>
            </a:r>
            <a:r>
              <a:rPr kumimoji="0" lang="en-US" altLang="en-US" sz="1500" b="0" i="0" u="none" strike="noStrike" cap="none" normalizeH="0" baseline="0" dirty="0">
                <a:ln>
                  <a:noFill/>
                </a:ln>
                <a:effectLst/>
              </a:rPr>
              <a:t> reveal </a:t>
            </a:r>
            <a:r>
              <a:rPr kumimoji="0" lang="en-US" altLang="en-US" sz="1500" b="1" i="0" u="none" strike="noStrike" cap="none" normalizeH="0" baseline="0" dirty="0">
                <a:ln>
                  <a:noFill/>
                </a:ln>
                <a:effectLst/>
              </a:rPr>
              <a:t>lower incomes with relatively high loan amounts</a:t>
            </a:r>
            <a:r>
              <a:rPr kumimoji="0" lang="en-US" altLang="en-US" sz="1500" b="0" i="0" u="none" strike="noStrike" cap="none" normalizeH="0" baseline="0" dirty="0">
                <a:ln>
                  <a:noFill/>
                </a:ln>
                <a:effectLst/>
              </a:rPr>
              <a:t>, suggesting </a:t>
            </a:r>
            <a:r>
              <a:rPr kumimoji="0" lang="en-US" altLang="en-US" sz="1500" b="1" i="0" u="none" strike="noStrike" cap="none" normalizeH="0" baseline="0" dirty="0">
                <a:ln>
                  <a:noFill/>
                </a:ln>
                <a:effectLst/>
              </a:rPr>
              <a:t>income-loan mismatch</a:t>
            </a:r>
            <a:r>
              <a:rPr kumimoji="0" lang="en-US" altLang="en-US" sz="1500" b="0" i="0" u="none" strike="noStrike" cap="none" normalizeH="0" baseline="0" dirty="0">
                <a:ln>
                  <a:noFill/>
                </a:ln>
                <a:effectLst/>
              </a:rPr>
              <a:t>.</a:t>
            </a:r>
          </a:p>
          <a:p>
            <a:pPr marL="0" marR="0" lvl="0" fontAlgn="base">
              <a:spcBef>
                <a:spcPct val="0"/>
              </a:spcBef>
              <a:spcAft>
                <a:spcPts val="600"/>
              </a:spcAft>
              <a:buClrTx/>
              <a:buSzTx/>
              <a:tabLst/>
            </a:pPr>
            <a:r>
              <a:rPr kumimoji="0" lang="en-US" altLang="en-US" sz="1500" b="0" i="0" u="none" strike="noStrike" cap="none" normalizeH="0" baseline="0" dirty="0">
                <a:ln>
                  <a:noFill/>
                </a:ln>
                <a:effectLst/>
              </a:rPr>
              <a:t>This pattern indicates that customers in riskier grades are often </a:t>
            </a:r>
            <a:r>
              <a:rPr kumimoji="0" lang="en-US" altLang="en-US" sz="1500" b="1" i="0" u="none" strike="noStrike" cap="none" normalizeH="0" baseline="0" dirty="0">
                <a:ln>
                  <a:noFill/>
                </a:ln>
                <a:effectLst/>
              </a:rPr>
              <a:t>over-leveraged compared to their earnings</a:t>
            </a:r>
            <a:r>
              <a:rPr kumimoji="0" lang="en-US" altLang="en-US" sz="1500" b="0" i="0" u="none" strike="noStrike" cap="none" normalizeH="0" baseline="0" dirty="0">
                <a:ln>
                  <a:noFill/>
                </a:ln>
                <a:effectLst/>
              </a:rPr>
              <a:t>.</a:t>
            </a:r>
          </a:p>
        </p:txBody>
      </p:sp>
      <p:sp>
        <p:nvSpPr>
          <p:cNvPr id="59" name="Rectangle 5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2B4C892-D9AE-4FF0-9BF4-A0912B0F3C4C}"/>
              </a:ext>
            </a:extLst>
          </p:cNvPr>
          <p:cNvPicPr>
            <a:picLocks noChangeAspect="1"/>
          </p:cNvPicPr>
          <p:nvPr/>
        </p:nvPicPr>
        <p:blipFill>
          <a:blip r:embed="rId3"/>
          <a:stretch>
            <a:fillRect/>
          </a:stretch>
        </p:blipFill>
        <p:spPr>
          <a:xfrm>
            <a:off x="6035002" y="2241812"/>
            <a:ext cx="5653798" cy="2762942"/>
          </a:xfrm>
          <a:prstGeom prst="rect">
            <a:avLst/>
          </a:prstGeom>
        </p:spPr>
      </p:pic>
    </p:spTree>
    <p:extLst>
      <p:ext uri="{BB962C8B-B14F-4D97-AF65-F5344CB8AC3E}">
        <p14:creationId xmlns:p14="http://schemas.microsoft.com/office/powerpoint/2010/main" val="164004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2D44C7-8255-7B4D-3794-63B2E321714B}"/>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8C49E6-A3BF-C2B1-86AA-8267786E4C5D}"/>
              </a:ext>
            </a:extLst>
          </p:cNvPr>
          <p:cNvSpPr>
            <a:spLocks noGrp="1"/>
          </p:cNvSpPr>
          <p:nvPr>
            <p:ph type="title"/>
          </p:nvPr>
        </p:nvSpPr>
        <p:spPr>
          <a:xfrm>
            <a:off x="1524000" y="-234774"/>
            <a:ext cx="8940800" cy="1922263"/>
          </a:xfrm>
        </p:spPr>
        <p:txBody>
          <a:bodyPr vert="horz" lIns="91440" tIns="45720" rIns="91440" bIns="45720" rtlCol="0" anchor="ctr">
            <a:normAutofit/>
          </a:bodyPr>
          <a:lstStyle/>
          <a:p>
            <a:pPr algn="ctr"/>
            <a:r>
              <a:rPr lang="en-US" sz="2000" b="1" dirty="0"/>
              <a:t>EXCEL</a:t>
            </a:r>
            <a:r>
              <a:rPr lang="en-US" sz="2000" b="1" kern="1200" dirty="0">
                <a:solidFill>
                  <a:schemeClr val="tx1"/>
                </a:solidFill>
                <a:latin typeface="+mj-lt"/>
                <a:ea typeface="+mj-ea"/>
                <a:cs typeface="+mj-cs"/>
              </a:rPr>
              <a:t> DASHBOARD</a:t>
            </a:r>
            <a:br>
              <a:rPr lang="en-US" sz="7200" b="1" kern="1200" dirty="0">
                <a:solidFill>
                  <a:schemeClr val="tx1"/>
                </a:solidFill>
                <a:latin typeface="+mj-lt"/>
                <a:ea typeface="+mj-ea"/>
                <a:cs typeface="+mj-cs"/>
              </a:rPr>
            </a:br>
            <a:endParaRPr lang="en-US" sz="7200" b="1" kern="1200" dirty="0">
              <a:solidFill>
                <a:schemeClr val="tx1"/>
              </a:solidFill>
              <a:latin typeface="+mj-lt"/>
              <a:ea typeface="+mj-ea"/>
              <a:cs typeface="+mj-cs"/>
            </a:endParaRPr>
          </a:p>
        </p:txBody>
      </p:sp>
      <p:cxnSp>
        <p:nvCxnSpPr>
          <p:cNvPr id="92" name="Straight Connector 91">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27246082-6C6D-616A-5165-D3058D966351}"/>
              </a:ext>
            </a:extLst>
          </p:cNvPr>
          <p:cNvPicPr>
            <a:picLocks noChangeAspect="1"/>
          </p:cNvPicPr>
          <p:nvPr/>
        </p:nvPicPr>
        <p:blipFill>
          <a:blip r:embed="rId3"/>
          <a:stretch>
            <a:fillRect/>
          </a:stretch>
        </p:blipFill>
        <p:spPr>
          <a:xfrm>
            <a:off x="596463" y="207038"/>
            <a:ext cx="11877333" cy="6521565"/>
          </a:xfrm>
          <a:prstGeom prst="rect">
            <a:avLst/>
          </a:prstGeom>
        </p:spPr>
      </p:pic>
    </p:spTree>
    <p:extLst>
      <p:ext uri="{BB962C8B-B14F-4D97-AF65-F5344CB8AC3E}">
        <p14:creationId xmlns:p14="http://schemas.microsoft.com/office/powerpoint/2010/main" val="175086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F4416B-9003-0016-7EA6-02A23AD5FAE7}"/>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A2F4A34A-178B-4681-F9CF-865DB8B0C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D00FC5D-F46C-3F7D-C369-1CA5A7FA8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1E3F2516-F9B9-11BE-F547-08D7E0882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E28B40-6099-D41F-BFB9-5A1D745AA510}"/>
              </a:ext>
            </a:extLst>
          </p:cNvPr>
          <p:cNvSpPr>
            <a:spLocks noGrp="1"/>
          </p:cNvSpPr>
          <p:nvPr>
            <p:ph type="title"/>
          </p:nvPr>
        </p:nvSpPr>
        <p:spPr>
          <a:xfrm>
            <a:off x="1524000" y="-234774"/>
            <a:ext cx="8940800" cy="1922263"/>
          </a:xfrm>
        </p:spPr>
        <p:txBody>
          <a:bodyPr vert="horz" lIns="91440" tIns="45720" rIns="91440" bIns="45720" rtlCol="0" anchor="ctr">
            <a:normAutofit/>
          </a:bodyPr>
          <a:lstStyle/>
          <a:p>
            <a:pPr algn="ctr"/>
            <a:r>
              <a:rPr lang="en-US" sz="2000" b="1" dirty="0"/>
              <a:t>POWER BI</a:t>
            </a:r>
            <a:r>
              <a:rPr lang="en-US" sz="2000" b="1" kern="1200" dirty="0">
                <a:solidFill>
                  <a:schemeClr val="tx1"/>
                </a:solidFill>
                <a:latin typeface="+mj-lt"/>
                <a:ea typeface="+mj-ea"/>
                <a:cs typeface="+mj-cs"/>
              </a:rPr>
              <a:t> DASHBOARD</a:t>
            </a:r>
            <a:br>
              <a:rPr lang="en-US" sz="7200" b="1" kern="1200" dirty="0">
                <a:solidFill>
                  <a:schemeClr val="tx1"/>
                </a:solidFill>
                <a:latin typeface="+mj-lt"/>
                <a:ea typeface="+mj-ea"/>
                <a:cs typeface="+mj-cs"/>
              </a:rPr>
            </a:br>
            <a:endParaRPr lang="en-US" sz="7200" b="1" kern="1200" dirty="0">
              <a:solidFill>
                <a:schemeClr val="tx1"/>
              </a:solidFill>
              <a:latin typeface="+mj-lt"/>
              <a:ea typeface="+mj-ea"/>
              <a:cs typeface="+mj-cs"/>
            </a:endParaRPr>
          </a:p>
        </p:txBody>
      </p:sp>
      <p:cxnSp>
        <p:nvCxnSpPr>
          <p:cNvPr id="92" name="Straight Connector 91">
            <a:extLst>
              <a:ext uri="{FF2B5EF4-FFF2-40B4-BE49-F238E27FC236}">
                <a16:creationId xmlns:a16="http://schemas.microsoft.com/office/drawing/2014/main" id="{8A101B14-0247-AC2E-6F27-EA0326C07C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41DB760-44E0-F248-EAAF-0A871BF36080}"/>
              </a:ext>
            </a:extLst>
          </p:cNvPr>
          <p:cNvPicPr>
            <a:picLocks noChangeAspect="1"/>
          </p:cNvPicPr>
          <p:nvPr/>
        </p:nvPicPr>
        <p:blipFill>
          <a:blip r:embed="rId3"/>
          <a:stretch>
            <a:fillRect/>
          </a:stretch>
        </p:blipFill>
        <p:spPr>
          <a:xfrm>
            <a:off x="276046" y="503290"/>
            <a:ext cx="11559396" cy="5851413"/>
          </a:xfrm>
          <a:prstGeom prst="rect">
            <a:avLst/>
          </a:prstGeom>
        </p:spPr>
      </p:pic>
    </p:spTree>
    <p:extLst>
      <p:ext uri="{BB962C8B-B14F-4D97-AF65-F5344CB8AC3E}">
        <p14:creationId xmlns:p14="http://schemas.microsoft.com/office/powerpoint/2010/main" val="40230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826A7-BA99-6F4E-B901-B62BD427320B}"/>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58995787-C3B8-4E13-278C-309529E7D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C10A1DAE-2387-FAA9-D50A-513D998CBE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3B545589-0683-37CC-E929-D1ED51F28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ABC72B-C70B-6E26-664E-9C7E25FB8337}"/>
              </a:ext>
            </a:extLst>
          </p:cNvPr>
          <p:cNvSpPr>
            <a:spLocks noGrp="1"/>
          </p:cNvSpPr>
          <p:nvPr>
            <p:ph type="title"/>
          </p:nvPr>
        </p:nvSpPr>
        <p:spPr>
          <a:xfrm>
            <a:off x="1524000" y="-234774"/>
            <a:ext cx="8940800" cy="1922263"/>
          </a:xfrm>
        </p:spPr>
        <p:txBody>
          <a:bodyPr vert="horz" lIns="91440" tIns="45720" rIns="91440" bIns="45720" rtlCol="0" anchor="ctr">
            <a:normAutofit/>
          </a:bodyPr>
          <a:lstStyle/>
          <a:p>
            <a:pPr algn="ctr"/>
            <a:r>
              <a:rPr lang="en-US" sz="2000" b="1" kern="1200" dirty="0">
                <a:solidFill>
                  <a:schemeClr val="tx1"/>
                </a:solidFill>
                <a:latin typeface="+mj-lt"/>
                <a:ea typeface="+mj-ea"/>
                <a:cs typeface="+mj-cs"/>
              </a:rPr>
              <a:t>TABLEAU DASHBOARD</a:t>
            </a:r>
            <a:br>
              <a:rPr lang="en-US" sz="7200" b="1" kern="1200" dirty="0">
                <a:solidFill>
                  <a:schemeClr val="tx1"/>
                </a:solidFill>
                <a:latin typeface="+mj-lt"/>
                <a:ea typeface="+mj-ea"/>
                <a:cs typeface="+mj-cs"/>
              </a:rPr>
            </a:br>
            <a:endParaRPr lang="en-US" sz="7200" b="1" kern="1200" dirty="0">
              <a:solidFill>
                <a:schemeClr val="tx1"/>
              </a:solidFill>
              <a:latin typeface="+mj-lt"/>
              <a:ea typeface="+mj-ea"/>
              <a:cs typeface="+mj-cs"/>
            </a:endParaRPr>
          </a:p>
        </p:txBody>
      </p:sp>
      <p:cxnSp>
        <p:nvCxnSpPr>
          <p:cNvPr id="92" name="Straight Connector 91">
            <a:extLst>
              <a:ext uri="{FF2B5EF4-FFF2-40B4-BE49-F238E27FC236}">
                <a16:creationId xmlns:a16="http://schemas.microsoft.com/office/drawing/2014/main" id="{AF737CF1-9900-7E8B-F40D-384AE44459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2" name="Picture 11" descr="A screenshot of a computer dashboard&#10;&#10;AI-generated content may be incorrect.">
            <a:extLst>
              <a:ext uri="{FF2B5EF4-FFF2-40B4-BE49-F238E27FC236}">
                <a16:creationId xmlns:a16="http://schemas.microsoft.com/office/drawing/2014/main" id="{D14B3952-5629-EBBC-3EB4-58A811D4AE4D}"/>
              </a:ext>
            </a:extLst>
          </p:cNvPr>
          <p:cNvPicPr>
            <a:picLocks noChangeAspect="1"/>
          </p:cNvPicPr>
          <p:nvPr/>
        </p:nvPicPr>
        <p:blipFill>
          <a:blip r:embed="rId3"/>
          <a:stretch>
            <a:fillRect/>
          </a:stretch>
        </p:blipFill>
        <p:spPr>
          <a:xfrm>
            <a:off x="596464" y="538006"/>
            <a:ext cx="10999071" cy="5816701"/>
          </a:xfrm>
          <a:prstGeom prst="rect">
            <a:avLst/>
          </a:prstGeom>
        </p:spPr>
      </p:pic>
    </p:spTree>
    <p:extLst>
      <p:ext uri="{BB962C8B-B14F-4D97-AF65-F5344CB8AC3E}">
        <p14:creationId xmlns:p14="http://schemas.microsoft.com/office/powerpoint/2010/main" val="76580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5EAB6E-B372-7409-D19A-6236AD926106}"/>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6512FDE8-D266-4FDA-5A2E-95A4B2239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5B0E43E7-6FDF-521C-7FD4-CB5E2E222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721B257F-3590-7C5F-4AD1-C45A9AFB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607027-FCA7-DA2B-965C-EBE43108DC5E}"/>
              </a:ext>
            </a:extLst>
          </p:cNvPr>
          <p:cNvSpPr>
            <a:spLocks noGrp="1"/>
          </p:cNvSpPr>
          <p:nvPr>
            <p:ph type="title"/>
          </p:nvPr>
        </p:nvSpPr>
        <p:spPr>
          <a:xfrm>
            <a:off x="1524000" y="-234774"/>
            <a:ext cx="8940800" cy="1922263"/>
          </a:xfrm>
        </p:spPr>
        <p:txBody>
          <a:bodyPr vert="horz" lIns="91440" tIns="45720" rIns="91440" bIns="45720" rtlCol="0" anchor="ctr">
            <a:normAutofit/>
          </a:bodyPr>
          <a:lstStyle/>
          <a:p>
            <a:pPr algn="ctr"/>
            <a:r>
              <a:rPr lang="en-US" sz="2000" b="1" dirty="0"/>
              <a:t>TABLEAU DASHBOARD</a:t>
            </a:r>
            <a:br>
              <a:rPr lang="en-US" sz="7200" b="1" kern="1200" dirty="0">
                <a:solidFill>
                  <a:schemeClr val="tx1"/>
                </a:solidFill>
                <a:latin typeface="+mj-lt"/>
                <a:ea typeface="+mj-ea"/>
                <a:cs typeface="+mj-cs"/>
              </a:rPr>
            </a:br>
            <a:endParaRPr lang="en-US" sz="7200" b="1" kern="1200" dirty="0">
              <a:solidFill>
                <a:schemeClr val="tx1"/>
              </a:solidFill>
              <a:latin typeface="+mj-lt"/>
              <a:ea typeface="+mj-ea"/>
              <a:cs typeface="+mj-cs"/>
            </a:endParaRPr>
          </a:p>
        </p:txBody>
      </p:sp>
      <p:cxnSp>
        <p:nvCxnSpPr>
          <p:cNvPr id="92" name="Straight Connector 91">
            <a:extLst>
              <a:ext uri="{FF2B5EF4-FFF2-40B4-BE49-F238E27FC236}">
                <a16:creationId xmlns:a16="http://schemas.microsoft.com/office/drawing/2014/main" id="{9FDFDAA5-ACE4-78A3-8F0E-7F5F38194F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graph&#10;&#10;AI-generated content may be incorrect.">
            <a:extLst>
              <a:ext uri="{FF2B5EF4-FFF2-40B4-BE49-F238E27FC236}">
                <a16:creationId xmlns:a16="http://schemas.microsoft.com/office/drawing/2014/main" id="{5C9653AE-FAC5-EACD-87ED-0B796840AFB4}"/>
              </a:ext>
            </a:extLst>
          </p:cNvPr>
          <p:cNvPicPr>
            <a:picLocks noChangeAspect="1"/>
          </p:cNvPicPr>
          <p:nvPr/>
        </p:nvPicPr>
        <p:blipFill>
          <a:blip r:embed="rId3"/>
          <a:stretch>
            <a:fillRect/>
          </a:stretch>
        </p:blipFill>
        <p:spPr>
          <a:xfrm>
            <a:off x="596463" y="551962"/>
            <a:ext cx="10999072" cy="6037520"/>
          </a:xfrm>
          <a:prstGeom prst="rect">
            <a:avLst/>
          </a:prstGeom>
        </p:spPr>
      </p:pic>
    </p:spTree>
    <p:extLst>
      <p:ext uri="{BB962C8B-B14F-4D97-AF65-F5344CB8AC3E}">
        <p14:creationId xmlns:p14="http://schemas.microsoft.com/office/powerpoint/2010/main" val="132632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84AB3B-6D9C-2FCA-CB8E-4235B23A38BF}"/>
            </a:ext>
          </a:extLst>
        </p:cNvPr>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A6FCA150-2904-60FA-C4B5-A1E1B6029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D988F38-238D-4CDA-AD60-3A349721D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1CAA1D92-155A-8445-BD1D-F9258D5B3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264B1F-D911-63D9-4FF8-C76389CFF74A}"/>
              </a:ext>
            </a:extLst>
          </p:cNvPr>
          <p:cNvSpPr>
            <a:spLocks noGrp="1"/>
          </p:cNvSpPr>
          <p:nvPr>
            <p:ph type="title"/>
          </p:nvPr>
        </p:nvSpPr>
        <p:spPr>
          <a:xfrm>
            <a:off x="1524000" y="-234774"/>
            <a:ext cx="8940800" cy="1922263"/>
          </a:xfrm>
        </p:spPr>
        <p:txBody>
          <a:bodyPr vert="horz" lIns="91440" tIns="45720" rIns="91440" bIns="45720" rtlCol="0" anchor="ctr">
            <a:normAutofit/>
          </a:bodyPr>
          <a:lstStyle/>
          <a:p>
            <a:pPr algn="ctr"/>
            <a:r>
              <a:rPr lang="en-US" sz="2000" b="1" dirty="0"/>
              <a:t>SQL QUERY</a:t>
            </a:r>
            <a:br>
              <a:rPr lang="en-US" sz="7200" b="1" kern="1200" dirty="0">
                <a:solidFill>
                  <a:schemeClr val="tx1"/>
                </a:solidFill>
                <a:latin typeface="+mj-lt"/>
                <a:ea typeface="+mj-ea"/>
                <a:cs typeface="+mj-cs"/>
              </a:rPr>
            </a:br>
            <a:endParaRPr lang="en-US" sz="7200" b="1" kern="1200" dirty="0">
              <a:solidFill>
                <a:schemeClr val="tx1"/>
              </a:solidFill>
              <a:latin typeface="+mj-lt"/>
              <a:ea typeface="+mj-ea"/>
              <a:cs typeface="+mj-cs"/>
            </a:endParaRPr>
          </a:p>
        </p:txBody>
      </p:sp>
      <p:cxnSp>
        <p:nvCxnSpPr>
          <p:cNvPr id="92" name="Straight Connector 91">
            <a:extLst>
              <a:ext uri="{FF2B5EF4-FFF2-40B4-BE49-F238E27FC236}">
                <a16:creationId xmlns:a16="http://schemas.microsoft.com/office/drawing/2014/main" id="{4917A14A-7E51-35A0-8A0B-3F1179E6BB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9FC4D122-038B-799A-66C6-B512725FC5B6}"/>
              </a:ext>
            </a:extLst>
          </p:cNvPr>
          <p:cNvGraphicFramePr>
            <a:graphicFrameLocks noChangeAspect="1"/>
          </p:cNvGraphicFramePr>
          <p:nvPr>
            <p:extLst>
              <p:ext uri="{D42A27DB-BD31-4B8C-83A1-F6EECF244321}">
                <p14:modId xmlns:p14="http://schemas.microsoft.com/office/powerpoint/2010/main" val="1646894054"/>
              </p:ext>
            </p:extLst>
          </p:nvPr>
        </p:nvGraphicFramePr>
        <p:xfrm>
          <a:off x="3830128" y="1518249"/>
          <a:ext cx="5538159" cy="2587925"/>
        </p:xfrm>
        <a:graphic>
          <a:graphicData uri="http://schemas.openxmlformats.org/presentationml/2006/ole">
            <mc:AlternateContent xmlns:mc="http://schemas.openxmlformats.org/markup-compatibility/2006">
              <mc:Choice xmlns:v="urn:schemas-microsoft-com:vml" Requires="v">
                <p:oleObj name="Packager Shell Object" showAsIcon="1" r:id="rId3" imgW="1952515" imgH="514178" progId="Package">
                  <p:embed/>
                </p:oleObj>
              </mc:Choice>
              <mc:Fallback>
                <p:oleObj name="Packager Shell Object" showAsIcon="1" r:id="rId3" imgW="1952515" imgH="514178" progId="Package">
                  <p:embed/>
                  <p:pic>
                    <p:nvPicPr>
                      <p:cNvPr id="0" name=""/>
                      <p:cNvPicPr/>
                      <p:nvPr/>
                    </p:nvPicPr>
                    <p:blipFill>
                      <a:blip r:embed="rId4"/>
                      <a:stretch>
                        <a:fillRect/>
                      </a:stretch>
                    </p:blipFill>
                    <p:spPr>
                      <a:xfrm>
                        <a:off x="3830128" y="1518249"/>
                        <a:ext cx="5538159" cy="2587925"/>
                      </a:xfrm>
                      <a:prstGeom prst="rect">
                        <a:avLst/>
                      </a:prstGeom>
                      <a:solidFill>
                        <a:schemeClr val="tx2">
                          <a:lumMod val="50000"/>
                          <a:lumOff val="50000"/>
                        </a:schemeClr>
                      </a:solidFill>
                    </p:spPr>
                  </p:pic>
                </p:oleObj>
              </mc:Fallback>
            </mc:AlternateContent>
          </a:graphicData>
        </a:graphic>
      </p:graphicFrame>
    </p:spTree>
    <p:extLst>
      <p:ext uri="{BB962C8B-B14F-4D97-AF65-F5344CB8AC3E}">
        <p14:creationId xmlns:p14="http://schemas.microsoft.com/office/powerpoint/2010/main" val="383943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F22D4-A5BA-31EE-DB24-F385D629A6B8}"/>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descr="Desk with productivity items">
            <a:extLst>
              <a:ext uri="{FF2B5EF4-FFF2-40B4-BE49-F238E27FC236}">
                <a16:creationId xmlns:a16="http://schemas.microsoft.com/office/drawing/2014/main" id="{9E93BC68-0913-1607-E352-6BDBF00C0704}"/>
              </a:ext>
            </a:extLst>
          </p:cNvPr>
          <p:cNvPicPr>
            <a:picLocks noChangeAspect="1"/>
          </p:cNvPicPr>
          <p:nvPr/>
        </p:nvPicPr>
        <p:blipFill>
          <a:blip r:embed="rId3"/>
          <a:srcRect l="37069" r="21819" b="-1"/>
          <a:stretch>
            <a:fillRect/>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0AF4201D-6FC0-C56A-1F44-7ADA3C06FBF8}"/>
              </a:ext>
            </a:extLst>
          </p:cNvPr>
          <p:cNvSpPr>
            <a:spLocks noGrp="1"/>
          </p:cNvSpPr>
          <p:nvPr>
            <p:ph type="title"/>
          </p:nvPr>
        </p:nvSpPr>
        <p:spPr>
          <a:xfrm>
            <a:off x="1137034" y="609600"/>
            <a:ext cx="6831188" cy="1322887"/>
          </a:xfrm>
        </p:spPr>
        <p:txBody>
          <a:bodyPr vert="horz" lIns="91440" tIns="45720" rIns="91440" bIns="45720" rtlCol="0" anchor="ctr">
            <a:normAutofit/>
          </a:bodyPr>
          <a:lstStyle/>
          <a:p>
            <a:r>
              <a:rPr lang="en-US" b="1"/>
              <a:t>Challenges &amp; Learnings</a:t>
            </a:r>
          </a:p>
        </p:txBody>
      </p:sp>
      <p:sp>
        <p:nvSpPr>
          <p:cNvPr id="75" name="Rectangle 1">
            <a:extLst>
              <a:ext uri="{FF2B5EF4-FFF2-40B4-BE49-F238E27FC236}">
                <a16:creationId xmlns:a16="http://schemas.microsoft.com/office/drawing/2014/main" id="{78330EE7-13AE-F81B-3027-10C039AD35E1}"/>
              </a:ext>
            </a:extLst>
          </p:cNvPr>
          <p:cNvSpPr>
            <a:spLocks noGrp="1" noChangeArrowheads="1"/>
          </p:cNvSpPr>
          <p:nvPr>
            <p:ph sz="half" idx="2"/>
          </p:nvPr>
        </p:nvSpPr>
        <p:spPr bwMode="auto">
          <a:xfrm>
            <a:off x="1137035" y="2194102"/>
            <a:ext cx="6516216" cy="39085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n-US" sz="2000" b="1"/>
              <a:t>Challenges:</a:t>
            </a:r>
          </a:p>
          <a:p>
            <a:r>
              <a:rPr lang="en-US" sz="2000"/>
              <a:t>Cleaning &amp; formatting raw finance data</a:t>
            </a:r>
          </a:p>
          <a:p>
            <a:r>
              <a:rPr lang="en-US" sz="2000"/>
              <a:t>Complex SQL query building for KPIs</a:t>
            </a:r>
          </a:p>
          <a:p>
            <a:r>
              <a:rPr lang="en-US" sz="2000"/>
              <a:t>Power BI visual alignment &amp; interactivity</a:t>
            </a:r>
          </a:p>
          <a:p>
            <a:r>
              <a:rPr lang="en-US" sz="2000" b="1"/>
              <a:t>Learnings:</a:t>
            </a:r>
          </a:p>
          <a:p>
            <a:r>
              <a:rPr lang="en-US" sz="2000"/>
              <a:t>Stronger SQL query writing skills</a:t>
            </a:r>
          </a:p>
          <a:p>
            <a:r>
              <a:rPr lang="en-US" sz="2000"/>
              <a:t>Hands-on practice with Excel dashboards</a:t>
            </a:r>
          </a:p>
          <a:p>
            <a:r>
              <a:rPr lang="en-US" sz="2000"/>
              <a:t>Proficiency in Power BI reporting</a:t>
            </a:r>
          </a:p>
          <a:p>
            <a:r>
              <a:rPr lang="en-US" sz="2000"/>
              <a:t>Better understanding of financial KPIs &amp; insights</a:t>
            </a:r>
          </a:p>
          <a:p>
            <a:pPr marL="0" marR="0" lvl="0" fontAlgn="base">
              <a:spcBef>
                <a:spcPct val="0"/>
              </a:spcBef>
              <a:spcAft>
                <a:spcPts val="600"/>
              </a:spcAft>
              <a:buClrTx/>
              <a:buSzTx/>
              <a:tabLst/>
            </a:pPr>
            <a:endParaRPr kumimoji="0" lang="en-US" altLang="en-US" sz="2000" b="0" i="0" u="none" strike="noStrike" cap="none" normalizeH="0" baseline="0">
              <a:ln>
                <a:noFill/>
              </a:ln>
              <a:effectLst/>
            </a:endParaRPr>
          </a:p>
        </p:txBody>
      </p:sp>
    </p:spTree>
    <p:extLst>
      <p:ext uri="{BB962C8B-B14F-4D97-AF65-F5344CB8AC3E}">
        <p14:creationId xmlns:p14="http://schemas.microsoft.com/office/powerpoint/2010/main" val="1521064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TotalTime>
  <Words>1333</Words>
  <Application>Microsoft Office PowerPoint</Application>
  <PresentationFormat>Widescreen</PresentationFormat>
  <Paragraphs>105</Paragraphs>
  <Slides>16</Slides>
  <Notes>15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Aptos</vt:lpstr>
      <vt:lpstr>Aptos Display</vt:lpstr>
      <vt:lpstr>Arial</vt:lpstr>
      <vt:lpstr>Office Theme</vt:lpstr>
      <vt:lpstr>Packager Shell Object</vt:lpstr>
      <vt:lpstr>BANK LOAN ANALYTICS PROJECT</vt:lpstr>
      <vt:lpstr>INDEX</vt:lpstr>
      <vt:lpstr>KPI 1: Loan Amount Trend by Year</vt:lpstr>
      <vt:lpstr>KPI 2: Revolving Balance by Grade &amp; Sub-Grade</vt:lpstr>
      <vt:lpstr>KPI 3 – Total Payment by Verification Status</vt:lpstr>
      <vt:lpstr>KPI 4 – Loan Status Distribution (State wise &amp; Month wise)</vt:lpstr>
      <vt:lpstr>KPI 5 – Home Ownership vs Last Payment Date</vt:lpstr>
      <vt:lpstr>KPI 6 – Top 10 Loan Purposes</vt:lpstr>
      <vt:lpstr>KPI 7 – Recovery Analysis by Grade</vt:lpstr>
      <vt:lpstr>KPI 8 – Avg Annual Income vs Avg Loan Amount (by Grade)</vt:lpstr>
      <vt:lpstr>EXCEL DASHBOARD </vt:lpstr>
      <vt:lpstr>POWER BI DASHBOARD </vt:lpstr>
      <vt:lpstr>TABLEAU DASHBOARD </vt:lpstr>
      <vt:lpstr>TABLEAU DASHBOARD </vt:lpstr>
      <vt:lpstr>SQL QUERY </vt:lpstr>
      <vt:lpstr>Challenges &amp;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LOAN ANALYTICS PROJECT</dc:title>
  <dc:creator>puja saurabh</dc:creator>
  <cp:lastModifiedBy>Vikas Kandukuri</cp:lastModifiedBy>
  <cp:revision>13</cp:revision>
  <dcterms:created xsi:type="dcterms:W3CDTF">2025-08-28T12:02:13Z</dcterms:created>
  <dcterms:modified xsi:type="dcterms:W3CDTF">2025-09-25T07:24:07Z</dcterms:modified>
</cp:coreProperties>
</file>